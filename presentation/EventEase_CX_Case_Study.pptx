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7771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[morning/afternoon]. I'm Payal Priyadarshini Jena, registration number 240301120103, B.Tech Computer Science and Engineering. My project for Customer Experience Design and Programming (CUCS1012), guided by Perween Rumana, is EventEase: a student event discovery and registration platform for CUTM.
This is a Customer Experience Design case study, so I won't start with features. I'll walk through the process I followed: the problem, the user research, the insights, a persona and journey map, the design opportunity, the user flow and information architecture, and finally the prototype, which I'll demonstrate live near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designing anything, I started with the students.
The research followed six steps: identify the problem, create a Google Form, share it with students, collect the 22 responses, analyze them, and extract customer-experience insights.
The scope: a Google Forms survey with 22 participants, mostly second-year students. So this is an exploratory survey, not a statistically representative one.
It focused on four parts of the experience: how students discover events, how they find event information, how they register, and how they keep track of events afterwards.
On the right are the nine questions I asked. The results come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38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what the students told us, in four findings.
First: 14 of 22 students, 63.6%, had missed an event because they didn't know about it in time.
Second: 15 of 22, 68.2%, frequently or sometimes searched WhatsApp or other platforms for event information or registration links.
Third: 6 of 22, 27.3%, said finding complete event information was their biggest difficulty when registering — the most common single answer.
Fourth: 10 of 22, 45.5%, chose complete event details as one of the most useful features. Each dot in the row represents one respondent.
The strip below shows the top requested features: complete event details and an event calendar at 45.5% each, and event reminders at 36.4%. That question allowed several answers.
Together, this points to a need for a more centralized, structured event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017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findings I synthesized a representative persona: Aarav Kumar, a 20-year-old CSE undergraduate at CUTM.
Aarav is a design persona, not one of the 22 respondents. He brings together the patterns from the survey so the design has a clear person to serve.
His goals: discover relevant events, find complete information, register quickly, track his registrations and avoid missing deadlines.
His pain points: fragmented information, finding out too late, hard-to-find registration links, unclear deadlines and difficult tracking.
He uses a smartphone and a laptop, is comfortable with digital platforms, and hears about events through several channels.
In his words: "I want to know what's happening on campus without having to search everywhere."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1543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from who, to what Aarav's experience actually looks like today.
The current journey has six stages: discover, search for information, find the registration, register, track the event, and attend. For each one I mapped the touchpoint, what he does, the pain point, and how he feels.
He hears about an event through WhatsApp, Instagram, friends or a poster — curious, but unsure of the details. He then scrolls through messages looking for information and gets frustrated. Finding the link and the deadline makes him anxious. He fills in a form, relieved but not sure it worked. Afterwards he has to re-find the date, venue and requirements, which is stressful. Only at the event itself does the experience turn positive.
The evidence for these pain points is on the previous slide; this slide shows the experience. The friction runs right across the journey: discovery, finding information, registration, and tracking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131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transition: from pain points to a design opportunity.
Top: the current experience — discover, search multiple channels, find the information, find the registration link, register, then search again and track everything manually.
Below: the experience I designed — discover, view complete details in one place, register, get a confirmation, save it to My Events, get a reminder, attend, and give feedback.
The design goal: create a centralized, low-friction experience for discovering, registering for and managing campus events.
On the right, each research need maps to an EventEase response: complete details became the Event Details page; the calendar became Calendar; reminders became notifications; registered events became My Events; and the event pass became the QR pass.
So this isn't a feature list — every element traces back to a CX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1963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Next, how the future-state journey became an actual interface.
On the left is the user flow: Home, discover, search or filter, open Event Details, register, see the confirmation, find it in My Events, get a reminder and attend, then give feedback. The flow falls into three parts: discovering events in one place; understanding the event and registering with a clear confirmation; and managing everything afterwards.
On the right is the information architecture — the seven top-level areas: Home, Explore, Calendar, Clubs, Opportunities, My Events and Profile.
So the CX journey directly shaped both the interaction flow and the structure of the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54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conclude: I used student research to turn a fragmented campus-event experience into a centralized digital journey — from research, to CX insights, to user-centered design, to a functional prototype.
Looking ahead, four areas would take EventEase toward a real product:
1. Production authentication — university-approved single sign-on.
2. Event operations — approvals, check-in, attendance and event-management tools for organizers.
3. The student ecosystem — clubs, teams, competitions and certificates in one platform.
4. Intelligence and integration — analytics, personalization and integration with institutional systems.
Several of these are explored in the prototype with development stand-ins; making them real would need the university's approval and infrastructure. Its current status: a functional academic prototype, not deployed at CUTM.
In one line: EventEase turns "Where did I find that event?" into "Everything I need is here." Your campus. Your opportunities. One place.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801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let's leave the slides and use the real thing. [Open the running EventEase website.]
I'll follow one user story: let's imagine Aarav has just heard about an event.
1. Discover — he opens Explore and searches or filters for it.
2. Understand — the Event Details page gives him everything in one place: date, venue, eligibility, deadline and seats.
3. Register — the form is short, because his details come from his university profile.
4. Confirm — he gets a clear confirmation and a QR event pass.
5. Save and manage — the event appears in My Events.
6. Track — it shows on the Calendar.
7. Reflect — after the event he can give feedback.
(The events used for registration in this demo are sample events created for the prototype.)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406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E Ligh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kern="0" spc="3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EventEase  ·  Customer Experience Design and Programming (CUCS1012)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E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kern="0" spc="3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EventEase  ·  Customer Experience Design and Programming (CUCS1012)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87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E Form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0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27.png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1551615" cy="6309360"/>
          </a:xfrm>
          <a:prstGeom prst="roundRect">
            <a:avLst>
              <a:gd name="adj" fmla="val 1739"/>
            </a:avLst>
          </a:prstGeom>
          <a:ln w="15875">
            <a:solidFill>
              <a:srgbClr val="DDD6F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242867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spc="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EVENTEASE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01168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Event Discovery &amp; Registration Platform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24912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Experience Design &amp; Programming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090672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 CUCS1012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706728" y="3657600"/>
            <a:ext cx="4206240" cy="1828800"/>
          </a:xfrm>
          <a:prstGeom prst="roundRect">
            <a:avLst>
              <a:gd name="adj" fmla="val 7000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026768" y="3840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BY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2026768" y="4133088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Payal Priyadarshini Jena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No.: 240301120103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&amp; Engineering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Centurion University of Technology and Management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78728" y="3657600"/>
            <a:ext cx="4206240" cy="1828800"/>
          </a:xfrm>
          <a:prstGeom prst="roundRect">
            <a:avLst>
              <a:gd name="adj" fmla="val 7000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98768" y="3840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BY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598768" y="4133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Perween Rumana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598768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Centurion University of Technology and Management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580644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V   |   Academic Year 2026–27</a:t>
            </a:r>
            <a:endParaRPr lang="en-US" sz="13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B91975-572D-47BC-AC17-0828B52417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7271" y="421607"/>
            <a:ext cx="647156" cy="10221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rag">
            <a:hlinkClick r:id="" action="ppaction://media"/>
            <a:extLst>
              <a:ext uri="{FF2B5EF4-FFF2-40B4-BE49-F238E27FC236}">
                <a16:creationId xmlns:a16="http://schemas.microsoft.com/office/drawing/2014/main" id="{648440ED-90BE-4EB0-8483-BC27F2BF90F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73206" y="520233"/>
            <a:ext cx="10645588" cy="598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845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RESEARCH METHODOLOGY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Started with the Students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21240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5" name="Shape 3"/>
          <p:cNvSpPr/>
          <p:nvPr/>
        </p:nvSpPr>
        <p:spPr>
          <a:xfrm>
            <a:off x="10094976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6" name="Shape 4"/>
          <p:cNvSpPr/>
          <p:nvPr/>
        </p:nvSpPr>
        <p:spPr>
          <a:xfrm>
            <a:off x="10268712" y="438912"/>
            <a:ext cx="118872" cy="11887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>
            <a:off x="10442448" y="438912"/>
            <a:ext cx="82296" cy="8229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10616184" y="438912"/>
            <a:ext cx="82296" cy="8229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438912"/>
            <a:ext cx="82296" cy="8229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10963656" y="438912"/>
            <a:ext cx="82296" cy="8229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11137392" y="438912"/>
            <a:ext cx="82296" cy="8229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11128" y="438912"/>
            <a:ext cx="82296" cy="8229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84864" y="438912"/>
            <a:ext cx="82296" cy="8229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conducted an exploratory student survey with 22 responses, primarily from second-year students.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1828800"/>
            <a:ext cx="1627632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1993392"/>
            <a:ext cx="420624" cy="420624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2098548"/>
            <a:ext cx="210312" cy="21031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673352" y="20482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251460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problem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212848" y="2432304"/>
            <a:ext cx="192024" cy="91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2441448" y="1828800"/>
            <a:ext cx="1627632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624328" y="1993392"/>
            <a:ext cx="420624" cy="420624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9484" y="2098548"/>
            <a:ext cx="210312" cy="21031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3566160" y="20482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2624328" y="251460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Google Form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105656" y="2432304"/>
            <a:ext cx="192024" cy="91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4334256" y="1828800"/>
            <a:ext cx="1627632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517136" y="1993392"/>
            <a:ext cx="420624" cy="420624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292" y="2098548"/>
            <a:ext cx="210312" cy="210312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5458968" y="20482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4517136" y="251460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students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5998464" y="2432304"/>
            <a:ext cx="192024" cy="91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33" name="Shape 28"/>
          <p:cNvSpPr/>
          <p:nvPr/>
        </p:nvSpPr>
        <p:spPr>
          <a:xfrm>
            <a:off x="6227064" y="1828800"/>
            <a:ext cx="1627632" cy="1207008"/>
          </a:xfrm>
          <a:prstGeom prst="roundRect">
            <a:avLst>
              <a:gd name="adj" fmla="val 10606"/>
            </a:avLst>
          </a:prstGeom>
          <a:solidFill>
            <a:srgbClr val="1E1B4B"/>
          </a:solidFill>
          <a:ln w="9525">
            <a:solidFill>
              <a:srgbClr val="1E1B4B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6409944" y="1993392"/>
            <a:ext cx="420624" cy="420624"/>
          </a:xfrm>
          <a:prstGeom prst="ellipse">
            <a:avLst/>
          </a:prstGeom>
          <a:solidFill>
            <a:srgbClr val="3B3A78"/>
          </a:solidFill>
          <a:ln/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2098548"/>
            <a:ext cx="210312" cy="210312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7351776" y="20482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6409944" y="251460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responses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7891272" y="2432304"/>
            <a:ext cx="192024" cy="91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39" name="Shape 33"/>
          <p:cNvSpPr/>
          <p:nvPr/>
        </p:nvSpPr>
        <p:spPr>
          <a:xfrm>
            <a:off x="8119872" y="1828800"/>
            <a:ext cx="1627632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8302752" y="1993392"/>
            <a:ext cx="420624" cy="420624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7908" y="2098548"/>
            <a:ext cx="210312" cy="210312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9244584" y="20482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8302752" y="251460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responses</a:t>
            </a:r>
            <a:endParaRPr lang="en-US" sz="1300" dirty="0"/>
          </a:p>
        </p:txBody>
      </p:sp>
      <p:sp>
        <p:nvSpPr>
          <p:cNvPr id="44" name="Shape 37"/>
          <p:cNvSpPr/>
          <p:nvPr/>
        </p:nvSpPr>
        <p:spPr>
          <a:xfrm>
            <a:off x="9784080" y="2432304"/>
            <a:ext cx="192024" cy="91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45" name="Shape 38"/>
          <p:cNvSpPr/>
          <p:nvPr/>
        </p:nvSpPr>
        <p:spPr>
          <a:xfrm>
            <a:off x="10012680" y="1828800"/>
            <a:ext cx="1627632" cy="1207008"/>
          </a:xfrm>
          <a:prstGeom prst="roundRect">
            <a:avLst>
              <a:gd name="adj" fmla="val 10606"/>
            </a:avLst>
          </a:prstGeom>
          <a:solidFill>
            <a:srgbClr val="1E1B4B"/>
          </a:solidFill>
          <a:ln w="9525">
            <a:solidFill>
              <a:srgbClr val="1E1B4B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10195560" y="1993392"/>
            <a:ext cx="420624" cy="420624"/>
          </a:xfrm>
          <a:prstGeom prst="ellipse">
            <a:avLst/>
          </a:prstGeom>
          <a:solidFill>
            <a:srgbClr val="3B3A78"/>
          </a:solidFill>
          <a:ln/>
        </p:spPr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0716" y="2098548"/>
            <a:ext cx="210312" cy="210312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11137392" y="20482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49" name="Text 41"/>
          <p:cNvSpPr txBox="1"/>
          <p:nvPr/>
        </p:nvSpPr>
        <p:spPr>
          <a:xfrm>
            <a:off x="10195560" y="251460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CX insights</a:t>
            </a:r>
            <a:endParaRPr lang="en-US" sz="1300" dirty="0"/>
          </a:p>
        </p:txBody>
      </p:sp>
      <p:sp>
        <p:nvSpPr>
          <p:cNvPr id="50" name="Shape 42"/>
          <p:cNvSpPr/>
          <p:nvPr/>
        </p:nvSpPr>
        <p:spPr>
          <a:xfrm>
            <a:off x="548640" y="3310128"/>
            <a:ext cx="4709160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51" name="Text 43"/>
          <p:cNvSpPr txBox="1"/>
          <p:nvPr/>
        </p:nvSpPr>
        <p:spPr>
          <a:xfrm>
            <a:off x="822960" y="3493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SCOPE</a:t>
            </a:r>
            <a:endParaRPr lang="en-US" sz="1100" dirty="0"/>
          </a:p>
        </p:txBody>
      </p:sp>
      <p:sp>
        <p:nvSpPr>
          <p:cNvPr id="52" name="Text 44"/>
          <p:cNvSpPr txBox="1"/>
          <p:nvPr/>
        </p:nvSpPr>
        <p:spPr>
          <a:xfrm>
            <a:off x="822960" y="38404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53" name="Text 45"/>
          <p:cNvSpPr txBox="1"/>
          <p:nvPr/>
        </p:nvSpPr>
        <p:spPr>
          <a:xfrm>
            <a:off x="2057400" y="38404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 survey</a:t>
            </a:r>
            <a:endParaRPr lang="en-US" sz="1300" dirty="0"/>
          </a:p>
        </p:txBody>
      </p:sp>
      <p:sp>
        <p:nvSpPr>
          <p:cNvPr id="54" name="Text 46"/>
          <p:cNvSpPr txBox="1"/>
          <p:nvPr/>
        </p:nvSpPr>
        <p:spPr>
          <a:xfrm>
            <a:off x="822960" y="41879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200" dirty="0"/>
          </a:p>
        </p:txBody>
      </p:sp>
      <p:sp>
        <p:nvSpPr>
          <p:cNvPr id="55" name="Text 47"/>
          <p:cNvSpPr txBox="1"/>
          <p:nvPr/>
        </p:nvSpPr>
        <p:spPr>
          <a:xfrm>
            <a:off x="2057400" y="41879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students</a:t>
            </a:r>
            <a:endParaRPr lang="en-US" sz="1300" dirty="0"/>
          </a:p>
        </p:txBody>
      </p:sp>
      <p:sp>
        <p:nvSpPr>
          <p:cNvPr id="56" name="Text 48"/>
          <p:cNvSpPr txBox="1"/>
          <p:nvPr/>
        </p:nvSpPr>
        <p:spPr>
          <a:xfrm>
            <a:off x="822960" y="453542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200" dirty="0"/>
          </a:p>
        </p:txBody>
      </p:sp>
      <p:sp>
        <p:nvSpPr>
          <p:cNvPr id="57" name="Text 49"/>
          <p:cNvSpPr txBox="1"/>
          <p:nvPr/>
        </p:nvSpPr>
        <p:spPr>
          <a:xfrm>
            <a:off x="2057400" y="45354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second-year students</a:t>
            </a:r>
            <a:endParaRPr lang="en-US" sz="1300" dirty="0"/>
          </a:p>
        </p:txBody>
      </p:sp>
      <p:sp>
        <p:nvSpPr>
          <p:cNvPr id="58" name="Text 50"/>
          <p:cNvSpPr txBox="1"/>
          <p:nvPr/>
        </p:nvSpPr>
        <p:spPr>
          <a:xfrm>
            <a:off x="822960" y="491947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200" dirty="0"/>
          </a:p>
        </p:txBody>
      </p:sp>
      <p:sp>
        <p:nvSpPr>
          <p:cNvPr id="59" name="Shape 51"/>
          <p:cNvSpPr/>
          <p:nvPr/>
        </p:nvSpPr>
        <p:spPr>
          <a:xfrm>
            <a:off x="2057400" y="4901184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60" name="Text 52"/>
          <p:cNvSpPr txBox="1"/>
          <p:nvPr/>
        </p:nvSpPr>
        <p:spPr>
          <a:xfrm>
            <a:off x="2057400" y="490118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discovery</a:t>
            </a:r>
            <a:endParaRPr lang="en-US" sz="1100" dirty="0"/>
          </a:p>
        </p:txBody>
      </p:sp>
      <p:sp>
        <p:nvSpPr>
          <p:cNvPr id="61" name="Shape 53"/>
          <p:cNvSpPr/>
          <p:nvPr/>
        </p:nvSpPr>
        <p:spPr>
          <a:xfrm>
            <a:off x="3337560" y="4901184"/>
            <a:ext cx="1331366" cy="32918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62" name="Text 54"/>
          <p:cNvSpPr txBox="1"/>
          <p:nvPr/>
        </p:nvSpPr>
        <p:spPr>
          <a:xfrm>
            <a:off x="3337560" y="4901184"/>
            <a:ext cx="13313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information</a:t>
            </a:r>
            <a:endParaRPr lang="en-US" sz="1100" dirty="0"/>
          </a:p>
        </p:txBody>
      </p:sp>
      <p:sp>
        <p:nvSpPr>
          <p:cNvPr id="63" name="Shape 55"/>
          <p:cNvSpPr/>
          <p:nvPr/>
        </p:nvSpPr>
        <p:spPr>
          <a:xfrm>
            <a:off x="2057400" y="5294376"/>
            <a:ext cx="1020470" cy="32918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64" name="Text 56"/>
          <p:cNvSpPr txBox="1"/>
          <p:nvPr/>
        </p:nvSpPr>
        <p:spPr>
          <a:xfrm>
            <a:off x="2057400" y="5294376"/>
            <a:ext cx="10204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100" dirty="0"/>
          </a:p>
        </p:txBody>
      </p:sp>
      <p:sp>
        <p:nvSpPr>
          <p:cNvPr id="65" name="Shape 57"/>
          <p:cNvSpPr/>
          <p:nvPr/>
        </p:nvSpPr>
        <p:spPr>
          <a:xfrm>
            <a:off x="3151022" y="5294376"/>
            <a:ext cx="1890979" cy="32918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66" name="Text 58"/>
          <p:cNvSpPr txBox="1"/>
          <p:nvPr/>
        </p:nvSpPr>
        <p:spPr>
          <a:xfrm>
            <a:off x="3151022" y="5294376"/>
            <a:ext cx="18909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Post-registration tracking</a:t>
            </a:r>
            <a:endParaRPr lang="en-US" sz="1100" dirty="0"/>
          </a:p>
        </p:txBody>
      </p:sp>
      <p:sp>
        <p:nvSpPr>
          <p:cNvPr id="67" name="Shape 59"/>
          <p:cNvSpPr/>
          <p:nvPr/>
        </p:nvSpPr>
        <p:spPr>
          <a:xfrm>
            <a:off x="5532120" y="3310128"/>
            <a:ext cx="6108192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68" name="Text 60"/>
          <p:cNvSpPr txBox="1"/>
          <p:nvPr/>
        </p:nvSpPr>
        <p:spPr>
          <a:xfrm>
            <a:off x="5806440" y="3493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ASKED</a:t>
            </a:r>
            <a:endParaRPr lang="en-US" sz="1100" dirty="0"/>
          </a:p>
        </p:txBody>
      </p:sp>
      <p:sp>
        <p:nvSpPr>
          <p:cNvPr id="69" name="Text 61"/>
          <p:cNvSpPr txBox="1"/>
          <p:nvPr/>
        </p:nvSpPr>
        <p:spPr>
          <a:xfrm>
            <a:off x="7680960" y="34930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questions on the Google Form</a:t>
            </a:r>
            <a:endParaRPr lang="en-US" sz="1100" dirty="0"/>
          </a:p>
        </p:txBody>
      </p:sp>
      <p:sp>
        <p:nvSpPr>
          <p:cNvPr id="70" name="Shape 62"/>
          <p:cNvSpPr/>
          <p:nvPr/>
        </p:nvSpPr>
        <p:spPr>
          <a:xfrm>
            <a:off x="5806440" y="3922776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</p:sp>
      <p:sp>
        <p:nvSpPr>
          <p:cNvPr id="71" name="Text 63"/>
          <p:cNvSpPr txBox="1"/>
          <p:nvPr/>
        </p:nvSpPr>
        <p:spPr>
          <a:xfrm>
            <a:off x="5806440" y="392277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50" dirty="0"/>
          </a:p>
        </p:txBody>
      </p:sp>
      <p:sp>
        <p:nvSpPr>
          <p:cNvPr id="72" name="Text 64"/>
          <p:cNvSpPr txBox="1"/>
          <p:nvPr/>
        </p:nvSpPr>
        <p:spPr>
          <a:xfrm>
            <a:off x="6263640" y="38862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students find out about events</a:t>
            </a:r>
            <a:endParaRPr lang="en-US" sz="1050" dirty="0"/>
          </a:p>
        </p:txBody>
      </p:sp>
      <p:sp>
        <p:nvSpPr>
          <p:cNvPr id="73" name="Shape 65"/>
          <p:cNvSpPr/>
          <p:nvPr/>
        </p:nvSpPr>
        <p:spPr>
          <a:xfrm>
            <a:off x="5806440" y="432511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</p:sp>
      <p:sp>
        <p:nvSpPr>
          <p:cNvPr id="74" name="Text 66"/>
          <p:cNvSpPr txBox="1"/>
          <p:nvPr/>
        </p:nvSpPr>
        <p:spPr>
          <a:xfrm>
            <a:off x="5806440" y="4325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50" dirty="0"/>
          </a:p>
        </p:txBody>
      </p:sp>
      <p:sp>
        <p:nvSpPr>
          <p:cNvPr id="75" name="Text 67"/>
          <p:cNvSpPr txBox="1"/>
          <p:nvPr/>
        </p:nvSpPr>
        <p:spPr>
          <a:xfrm>
            <a:off x="6263640" y="428853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easy event information is to find (1–5)</a:t>
            </a:r>
            <a:endParaRPr lang="en-US" sz="1050" dirty="0"/>
          </a:p>
        </p:txBody>
      </p:sp>
      <p:sp>
        <p:nvSpPr>
          <p:cNvPr id="76" name="Shape 68"/>
          <p:cNvSpPr/>
          <p:nvPr/>
        </p:nvSpPr>
        <p:spPr>
          <a:xfrm>
            <a:off x="5806440" y="4727448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</p:sp>
      <p:sp>
        <p:nvSpPr>
          <p:cNvPr id="77" name="Text 69"/>
          <p:cNvSpPr txBox="1"/>
          <p:nvPr/>
        </p:nvSpPr>
        <p:spPr>
          <a:xfrm>
            <a:off x="5806440" y="47274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50" dirty="0"/>
          </a:p>
        </p:txBody>
      </p:sp>
      <p:sp>
        <p:nvSpPr>
          <p:cNvPr id="78" name="Text 70"/>
          <p:cNvSpPr txBox="1"/>
          <p:nvPr/>
        </p:nvSpPr>
        <p:spPr>
          <a:xfrm>
            <a:off x="6263640" y="469087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an event for not knowing in time?</a:t>
            </a:r>
            <a:endParaRPr lang="en-US" sz="1050" dirty="0"/>
          </a:p>
        </p:txBody>
      </p:sp>
      <p:sp>
        <p:nvSpPr>
          <p:cNvPr id="79" name="Shape 71"/>
          <p:cNvSpPr/>
          <p:nvPr/>
        </p:nvSpPr>
        <p:spPr>
          <a:xfrm>
            <a:off x="5806440" y="5129784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</p:sp>
      <p:sp>
        <p:nvSpPr>
          <p:cNvPr id="80" name="Text 72"/>
          <p:cNvSpPr txBox="1"/>
          <p:nvPr/>
        </p:nvSpPr>
        <p:spPr>
          <a:xfrm>
            <a:off x="5806440" y="51297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50" dirty="0"/>
          </a:p>
        </p:txBody>
      </p:sp>
      <p:sp>
        <p:nvSpPr>
          <p:cNvPr id="81" name="Text 73"/>
          <p:cNvSpPr txBox="1"/>
          <p:nvPr/>
        </p:nvSpPr>
        <p:spPr>
          <a:xfrm>
            <a:off x="6263640" y="509320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difficulty when registering</a:t>
            </a:r>
            <a:endParaRPr lang="en-US" sz="1050" dirty="0"/>
          </a:p>
        </p:txBody>
      </p:sp>
      <p:sp>
        <p:nvSpPr>
          <p:cNvPr id="82" name="Shape 74"/>
          <p:cNvSpPr/>
          <p:nvPr/>
        </p:nvSpPr>
        <p:spPr>
          <a:xfrm>
            <a:off x="5806440" y="5532120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</p:sp>
      <p:sp>
        <p:nvSpPr>
          <p:cNvPr id="83" name="Text 75"/>
          <p:cNvSpPr txBox="1"/>
          <p:nvPr/>
        </p:nvSpPr>
        <p:spPr>
          <a:xfrm>
            <a:off x="5806440" y="55321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950" dirty="0"/>
          </a:p>
        </p:txBody>
      </p:sp>
      <p:sp>
        <p:nvSpPr>
          <p:cNvPr id="84" name="Text 76"/>
          <p:cNvSpPr txBox="1"/>
          <p:nvPr/>
        </p:nvSpPr>
        <p:spPr>
          <a:xfrm>
            <a:off x="6263640" y="549554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WhatsApp / other platforms</a:t>
            </a:r>
            <a:endParaRPr lang="en-US" sz="1050" dirty="0"/>
          </a:p>
        </p:txBody>
      </p:sp>
      <p:sp>
        <p:nvSpPr>
          <p:cNvPr id="85" name="Shape 77"/>
          <p:cNvSpPr/>
          <p:nvPr/>
        </p:nvSpPr>
        <p:spPr>
          <a:xfrm>
            <a:off x="8732520" y="3922776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</p:sp>
      <p:sp>
        <p:nvSpPr>
          <p:cNvPr id="86" name="Text 78"/>
          <p:cNvSpPr txBox="1"/>
          <p:nvPr/>
        </p:nvSpPr>
        <p:spPr>
          <a:xfrm>
            <a:off x="8732520" y="392277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950" dirty="0"/>
          </a:p>
        </p:txBody>
      </p:sp>
      <p:sp>
        <p:nvSpPr>
          <p:cNvPr id="87" name="Text 79"/>
          <p:cNvSpPr txBox="1"/>
          <p:nvPr/>
        </p:nvSpPr>
        <p:spPr>
          <a:xfrm>
            <a:off x="9189720" y="38862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tracking after registering (1–5)</a:t>
            </a:r>
            <a:endParaRPr lang="en-US" sz="1050" dirty="0"/>
          </a:p>
        </p:txBody>
      </p:sp>
      <p:sp>
        <p:nvSpPr>
          <p:cNvPr id="88" name="Shape 80"/>
          <p:cNvSpPr/>
          <p:nvPr/>
        </p:nvSpPr>
        <p:spPr>
          <a:xfrm>
            <a:off x="8732520" y="432511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</p:sp>
      <p:sp>
        <p:nvSpPr>
          <p:cNvPr id="89" name="Text 81"/>
          <p:cNvSpPr txBox="1"/>
          <p:nvPr/>
        </p:nvSpPr>
        <p:spPr>
          <a:xfrm>
            <a:off x="8732520" y="4325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950" dirty="0"/>
          </a:p>
        </p:txBody>
      </p:sp>
      <p:sp>
        <p:nvSpPr>
          <p:cNvPr id="90" name="Text 82"/>
          <p:cNvSpPr txBox="1"/>
          <p:nvPr/>
        </p:nvSpPr>
        <p:spPr>
          <a:xfrm>
            <a:off x="9189720" y="428853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hardest to locate</a:t>
            </a:r>
            <a:endParaRPr lang="en-US" sz="1050" dirty="0"/>
          </a:p>
        </p:txBody>
      </p:sp>
      <p:sp>
        <p:nvSpPr>
          <p:cNvPr id="91" name="Shape 83"/>
          <p:cNvSpPr/>
          <p:nvPr/>
        </p:nvSpPr>
        <p:spPr>
          <a:xfrm>
            <a:off x="8732520" y="4727448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</p:sp>
      <p:sp>
        <p:nvSpPr>
          <p:cNvPr id="92" name="Text 84"/>
          <p:cNvSpPr txBox="1"/>
          <p:nvPr/>
        </p:nvSpPr>
        <p:spPr>
          <a:xfrm>
            <a:off x="8732520" y="47274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950" dirty="0"/>
          </a:p>
        </p:txBody>
      </p:sp>
      <p:sp>
        <p:nvSpPr>
          <p:cNvPr id="93" name="Text 85"/>
          <p:cNvSpPr txBox="1"/>
          <p:nvPr/>
        </p:nvSpPr>
        <p:spPr>
          <a:xfrm>
            <a:off x="9189720" y="469087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use one central platform?</a:t>
            </a:r>
            <a:endParaRPr lang="en-US" sz="1050" dirty="0"/>
          </a:p>
        </p:txBody>
      </p:sp>
      <p:sp>
        <p:nvSpPr>
          <p:cNvPr id="94" name="Shape 86"/>
          <p:cNvSpPr/>
          <p:nvPr/>
        </p:nvSpPr>
        <p:spPr>
          <a:xfrm>
            <a:off x="8732520" y="5129784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</p:sp>
      <p:sp>
        <p:nvSpPr>
          <p:cNvPr id="95" name="Text 87"/>
          <p:cNvSpPr txBox="1"/>
          <p:nvPr/>
        </p:nvSpPr>
        <p:spPr>
          <a:xfrm>
            <a:off x="8732520" y="51297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950" dirty="0"/>
          </a:p>
        </p:txBody>
      </p:sp>
      <p:sp>
        <p:nvSpPr>
          <p:cNvPr id="96" name="Text 88"/>
          <p:cNvSpPr txBox="1"/>
          <p:nvPr/>
        </p:nvSpPr>
        <p:spPr>
          <a:xfrm>
            <a:off x="9189720" y="509320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useful features</a:t>
            </a:r>
            <a:endParaRPr lang="en-US" sz="1050" dirty="0"/>
          </a:p>
        </p:txBody>
      </p:sp>
      <p:sp>
        <p:nvSpPr>
          <p:cNvPr id="9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167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RESEARCH FINDINGS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the Students Tell Us?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21240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5" name="Shape 3"/>
          <p:cNvSpPr/>
          <p:nvPr/>
        </p:nvSpPr>
        <p:spPr>
          <a:xfrm>
            <a:off x="10094976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6" name="Shape 4"/>
          <p:cNvSpPr/>
          <p:nvPr/>
        </p:nvSpPr>
        <p:spPr>
          <a:xfrm>
            <a:off x="10268712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7" name="Shape 5"/>
          <p:cNvSpPr/>
          <p:nvPr/>
        </p:nvSpPr>
        <p:spPr>
          <a:xfrm>
            <a:off x="10442448" y="438912"/>
            <a:ext cx="118872" cy="11887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8" name="Shape 6"/>
          <p:cNvSpPr/>
          <p:nvPr/>
        </p:nvSpPr>
        <p:spPr>
          <a:xfrm>
            <a:off x="10616184" y="438912"/>
            <a:ext cx="82296" cy="8229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438912"/>
            <a:ext cx="82296" cy="8229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10963656" y="438912"/>
            <a:ext cx="82296" cy="8229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11137392" y="438912"/>
            <a:ext cx="82296" cy="8229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11128" y="438912"/>
            <a:ext cx="82296" cy="8229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84864" y="438912"/>
            <a:ext cx="82296" cy="8229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1481328"/>
            <a:ext cx="2615184" cy="269748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" y="1645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1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1874520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63.6%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51460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 students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278892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missed an event because they didn’t know about it in time.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0" name="Shape 18"/>
          <p:cNvSpPr/>
          <p:nvPr/>
        </p:nvSpPr>
        <p:spPr>
          <a:xfrm>
            <a:off x="973836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70432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2" name="Shape 20"/>
          <p:cNvSpPr/>
          <p:nvPr/>
        </p:nvSpPr>
        <p:spPr>
          <a:xfrm>
            <a:off x="1367028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3" name="Shape 21"/>
          <p:cNvSpPr/>
          <p:nvPr/>
        </p:nvSpPr>
        <p:spPr>
          <a:xfrm>
            <a:off x="1563624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4" name="Shape 22"/>
          <p:cNvSpPr/>
          <p:nvPr/>
        </p:nvSpPr>
        <p:spPr>
          <a:xfrm>
            <a:off x="1760220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5" name="Shape 23"/>
          <p:cNvSpPr/>
          <p:nvPr/>
        </p:nvSpPr>
        <p:spPr>
          <a:xfrm>
            <a:off x="1956816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6" name="Shape 24"/>
          <p:cNvSpPr/>
          <p:nvPr/>
        </p:nvSpPr>
        <p:spPr>
          <a:xfrm>
            <a:off x="2153412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7" name="Shape 25"/>
          <p:cNvSpPr/>
          <p:nvPr/>
        </p:nvSpPr>
        <p:spPr>
          <a:xfrm>
            <a:off x="2350008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8" name="Shape 26"/>
          <p:cNvSpPr/>
          <p:nvPr/>
        </p:nvSpPr>
        <p:spPr>
          <a:xfrm>
            <a:off x="2546604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0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3858768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1" name="Shape 29"/>
          <p:cNvSpPr/>
          <p:nvPr/>
        </p:nvSpPr>
        <p:spPr>
          <a:xfrm>
            <a:off x="973836" y="3858768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2" name="Shape 30"/>
          <p:cNvSpPr/>
          <p:nvPr/>
        </p:nvSpPr>
        <p:spPr>
          <a:xfrm>
            <a:off x="1170432" y="3858768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3" name="Shape 31"/>
          <p:cNvSpPr/>
          <p:nvPr/>
        </p:nvSpPr>
        <p:spPr>
          <a:xfrm>
            <a:off x="1367028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563624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760220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956816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37" name="Shape 35"/>
          <p:cNvSpPr/>
          <p:nvPr/>
        </p:nvSpPr>
        <p:spPr>
          <a:xfrm>
            <a:off x="2153412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38" name="Shape 36"/>
          <p:cNvSpPr/>
          <p:nvPr/>
        </p:nvSpPr>
        <p:spPr>
          <a:xfrm>
            <a:off x="2350008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39" name="Shape 37"/>
          <p:cNvSpPr/>
          <p:nvPr/>
        </p:nvSpPr>
        <p:spPr>
          <a:xfrm>
            <a:off x="2546604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40" name="Shape 38"/>
          <p:cNvSpPr/>
          <p:nvPr/>
        </p:nvSpPr>
        <p:spPr>
          <a:xfrm>
            <a:off x="2743200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41" name="Shape 39"/>
          <p:cNvSpPr/>
          <p:nvPr/>
        </p:nvSpPr>
        <p:spPr>
          <a:xfrm>
            <a:off x="3374136" y="1481328"/>
            <a:ext cx="2615184" cy="269748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3602736" y="1645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2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3602736" y="1874520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68.2%</a:t>
            </a:r>
            <a:endParaRPr lang="en-US" sz="3600" dirty="0"/>
          </a:p>
        </p:txBody>
      </p:sp>
      <p:sp>
        <p:nvSpPr>
          <p:cNvPr id="44" name="Text 42"/>
          <p:cNvSpPr txBox="1"/>
          <p:nvPr/>
        </p:nvSpPr>
        <p:spPr>
          <a:xfrm>
            <a:off x="3602736" y="251460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 students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3602736" y="278892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or sometimes searched WhatsApp or other platforms for event information or links.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02736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7" name="Shape 45"/>
          <p:cNvSpPr/>
          <p:nvPr/>
        </p:nvSpPr>
        <p:spPr>
          <a:xfrm>
            <a:off x="3799332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8" name="Shape 46"/>
          <p:cNvSpPr/>
          <p:nvPr/>
        </p:nvSpPr>
        <p:spPr>
          <a:xfrm>
            <a:off x="3995928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9" name="Shape 47"/>
          <p:cNvSpPr/>
          <p:nvPr/>
        </p:nvSpPr>
        <p:spPr>
          <a:xfrm>
            <a:off x="4192524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0" name="Shape 48"/>
          <p:cNvSpPr/>
          <p:nvPr/>
        </p:nvSpPr>
        <p:spPr>
          <a:xfrm>
            <a:off x="4389120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1" name="Shape 49"/>
          <p:cNvSpPr/>
          <p:nvPr/>
        </p:nvSpPr>
        <p:spPr>
          <a:xfrm>
            <a:off x="4585716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2" name="Shape 50"/>
          <p:cNvSpPr/>
          <p:nvPr/>
        </p:nvSpPr>
        <p:spPr>
          <a:xfrm>
            <a:off x="4782312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3" name="Shape 51"/>
          <p:cNvSpPr/>
          <p:nvPr/>
        </p:nvSpPr>
        <p:spPr>
          <a:xfrm>
            <a:off x="4978908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4" name="Shape 52"/>
          <p:cNvSpPr/>
          <p:nvPr/>
        </p:nvSpPr>
        <p:spPr>
          <a:xfrm>
            <a:off x="5175504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5" name="Shape 53"/>
          <p:cNvSpPr/>
          <p:nvPr/>
        </p:nvSpPr>
        <p:spPr>
          <a:xfrm>
            <a:off x="5372100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6" name="Shape 54"/>
          <p:cNvSpPr/>
          <p:nvPr/>
        </p:nvSpPr>
        <p:spPr>
          <a:xfrm>
            <a:off x="5568696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7" name="Shape 55"/>
          <p:cNvSpPr/>
          <p:nvPr/>
        </p:nvSpPr>
        <p:spPr>
          <a:xfrm>
            <a:off x="3602736" y="3858768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8" name="Shape 56"/>
          <p:cNvSpPr/>
          <p:nvPr/>
        </p:nvSpPr>
        <p:spPr>
          <a:xfrm>
            <a:off x="3799332" y="3858768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9" name="Shape 57"/>
          <p:cNvSpPr/>
          <p:nvPr/>
        </p:nvSpPr>
        <p:spPr>
          <a:xfrm>
            <a:off x="3995928" y="3858768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0" name="Shape 58"/>
          <p:cNvSpPr/>
          <p:nvPr/>
        </p:nvSpPr>
        <p:spPr>
          <a:xfrm>
            <a:off x="4192524" y="3858768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1" name="Shape 59"/>
          <p:cNvSpPr/>
          <p:nvPr/>
        </p:nvSpPr>
        <p:spPr>
          <a:xfrm>
            <a:off x="4389120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62" name="Shape 60"/>
          <p:cNvSpPr/>
          <p:nvPr/>
        </p:nvSpPr>
        <p:spPr>
          <a:xfrm>
            <a:off x="4585716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63" name="Shape 61"/>
          <p:cNvSpPr/>
          <p:nvPr/>
        </p:nvSpPr>
        <p:spPr>
          <a:xfrm>
            <a:off x="4782312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64" name="Shape 62"/>
          <p:cNvSpPr/>
          <p:nvPr/>
        </p:nvSpPr>
        <p:spPr>
          <a:xfrm>
            <a:off x="4978908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65" name="Shape 63"/>
          <p:cNvSpPr/>
          <p:nvPr/>
        </p:nvSpPr>
        <p:spPr>
          <a:xfrm>
            <a:off x="5175504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66" name="Shape 64"/>
          <p:cNvSpPr/>
          <p:nvPr/>
        </p:nvSpPr>
        <p:spPr>
          <a:xfrm>
            <a:off x="5372100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67" name="Shape 65"/>
          <p:cNvSpPr/>
          <p:nvPr/>
        </p:nvSpPr>
        <p:spPr>
          <a:xfrm>
            <a:off x="5568696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68" name="Shape 66"/>
          <p:cNvSpPr/>
          <p:nvPr/>
        </p:nvSpPr>
        <p:spPr>
          <a:xfrm>
            <a:off x="6199632" y="1481328"/>
            <a:ext cx="2615184" cy="269748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69" name="Text 67"/>
          <p:cNvSpPr txBox="1"/>
          <p:nvPr/>
        </p:nvSpPr>
        <p:spPr>
          <a:xfrm>
            <a:off x="6428232" y="1645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3</a:t>
            </a:r>
            <a:endParaRPr lang="en-US" sz="950" dirty="0"/>
          </a:p>
        </p:txBody>
      </p:sp>
      <p:sp>
        <p:nvSpPr>
          <p:cNvPr id="70" name="Text 68"/>
          <p:cNvSpPr txBox="1"/>
          <p:nvPr/>
        </p:nvSpPr>
        <p:spPr>
          <a:xfrm>
            <a:off x="6428232" y="1874520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27.3%</a:t>
            </a:r>
            <a:endParaRPr lang="en-US" sz="3600" dirty="0"/>
          </a:p>
        </p:txBody>
      </p:sp>
      <p:sp>
        <p:nvSpPr>
          <p:cNvPr id="71" name="Text 69"/>
          <p:cNvSpPr txBox="1"/>
          <p:nvPr/>
        </p:nvSpPr>
        <p:spPr>
          <a:xfrm>
            <a:off x="6428232" y="251460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 students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6428232" y="278892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finding complete event information was their biggest registration difficulty.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428232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4" name="Shape 72"/>
          <p:cNvSpPr/>
          <p:nvPr/>
        </p:nvSpPr>
        <p:spPr>
          <a:xfrm>
            <a:off x="6624828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5" name="Shape 73"/>
          <p:cNvSpPr/>
          <p:nvPr/>
        </p:nvSpPr>
        <p:spPr>
          <a:xfrm>
            <a:off x="6821424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6" name="Shape 74"/>
          <p:cNvSpPr/>
          <p:nvPr/>
        </p:nvSpPr>
        <p:spPr>
          <a:xfrm>
            <a:off x="7018020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7" name="Shape 75"/>
          <p:cNvSpPr/>
          <p:nvPr/>
        </p:nvSpPr>
        <p:spPr>
          <a:xfrm>
            <a:off x="7214616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8" name="Shape 76"/>
          <p:cNvSpPr/>
          <p:nvPr/>
        </p:nvSpPr>
        <p:spPr>
          <a:xfrm>
            <a:off x="7411212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9" name="Shape 77"/>
          <p:cNvSpPr/>
          <p:nvPr/>
        </p:nvSpPr>
        <p:spPr>
          <a:xfrm>
            <a:off x="7607808" y="3657600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80" name="Shape 78"/>
          <p:cNvSpPr/>
          <p:nvPr/>
        </p:nvSpPr>
        <p:spPr>
          <a:xfrm>
            <a:off x="7804404" y="3657600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81" name="Shape 79"/>
          <p:cNvSpPr/>
          <p:nvPr/>
        </p:nvSpPr>
        <p:spPr>
          <a:xfrm>
            <a:off x="8001000" y="3657600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82" name="Shape 80"/>
          <p:cNvSpPr/>
          <p:nvPr/>
        </p:nvSpPr>
        <p:spPr>
          <a:xfrm>
            <a:off x="8197596" y="3657600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83" name="Shape 81"/>
          <p:cNvSpPr/>
          <p:nvPr/>
        </p:nvSpPr>
        <p:spPr>
          <a:xfrm>
            <a:off x="8394192" y="3657600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84" name="Shape 82"/>
          <p:cNvSpPr/>
          <p:nvPr/>
        </p:nvSpPr>
        <p:spPr>
          <a:xfrm>
            <a:off x="6428232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85" name="Shape 83"/>
          <p:cNvSpPr/>
          <p:nvPr/>
        </p:nvSpPr>
        <p:spPr>
          <a:xfrm>
            <a:off x="6624828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86" name="Shape 84"/>
          <p:cNvSpPr/>
          <p:nvPr/>
        </p:nvSpPr>
        <p:spPr>
          <a:xfrm>
            <a:off x="6821424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87" name="Shape 85"/>
          <p:cNvSpPr/>
          <p:nvPr/>
        </p:nvSpPr>
        <p:spPr>
          <a:xfrm>
            <a:off x="7018020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88" name="Shape 86"/>
          <p:cNvSpPr/>
          <p:nvPr/>
        </p:nvSpPr>
        <p:spPr>
          <a:xfrm>
            <a:off x="7214616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89" name="Shape 87"/>
          <p:cNvSpPr/>
          <p:nvPr/>
        </p:nvSpPr>
        <p:spPr>
          <a:xfrm>
            <a:off x="7411212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90" name="Shape 88"/>
          <p:cNvSpPr/>
          <p:nvPr/>
        </p:nvSpPr>
        <p:spPr>
          <a:xfrm>
            <a:off x="7607808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91" name="Shape 89"/>
          <p:cNvSpPr/>
          <p:nvPr/>
        </p:nvSpPr>
        <p:spPr>
          <a:xfrm>
            <a:off x="7804404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92" name="Shape 90"/>
          <p:cNvSpPr/>
          <p:nvPr/>
        </p:nvSpPr>
        <p:spPr>
          <a:xfrm>
            <a:off x="8001000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93" name="Shape 91"/>
          <p:cNvSpPr/>
          <p:nvPr/>
        </p:nvSpPr>
        <p:spPr>
          <a:xfrm>
            <a:off x="8197596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94" name="Shape 92"/>
          <p:cNvSpPr/>
          <p:nvPr/>
        </p:nvSpPr>
        <p:spPr>
          <a:xfrm>
            <a:off x="8394192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95" name="Shape 93"/>
          <p:cNvSpPr/>
          <p:nvPr/>
        </p:nvSpPr>
        <p:spPr>
          <a:xfrm>
            <a:off x="9025128" y="1481328"/>
            <a:ext cx="2615184" cy="269748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96" name="Text 94"/>
          <p:cNvSpPr txBox="1"/>
          <p:nvPr/>
        </p:nvSpPr>
        <p:spPr>
          <a:xfrm>
            <a:off x="9253728" y="1645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4</a:t>
            </a:r>
            <a:endParaRPr lang="en-US" sz="950" dirty="0"/>
          </a:p>
        </p:txBody>
      </p:sp>
      <p:sp>
        <p:nvSpPr>
          <p:cNvPr id="97" name="Text 95"/>
          <p:cNvSpPr txBox="1"/>
          <p:nvPr/>
        </p:nvSpPr>
        <p:spPr>
          <a:xfrm>
            <a:off x="9253728" y="1874520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45.5%</a:t>
            </a:r>
            <a:endParaRPr lang="en-US" sz="3600" dirty="0"/>
          </a:p>
        </p:txBody>
      </p:sp>
      <p:sp>
        <p:nvSpPr>
          <p:cNvPr id="98" name="Text 96"/>
          <p:cNvSpPr txBox="1"/>
          <p:nvPr/>
        </p:nvSpPr>
        <p:spPr>
          <a:xfrm>
            <a:off x="9253728" y="251460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 students</a:t>
            </a:r>
            <a:endParaRPr lang="en-US" sz="1300" dirty="0"/>
          </a:p>
        </p:txBody>
      </p:sp>
      <p:sp>
        <p:nvSpPr>
          <p:cNvPr id="99" name="Text 97"/>
          <p:cNvSpPr txBox="1"/>
          <p:nvPr/>
        </p:nvSpPr>
        <p:spPr>
          <a:xfrm>
            <a:off x="9253728" y="278892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complete event details as one of the most useful features.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9253728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1" name="Shape 99"/>
          <p:cNvSpPr/>
          <p:nvPr/>
        </p:nvSpPr>
        <p:spPr>
          <a:xfrm>
            <a:off x="9450324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2" name="Shape 100"/>
          <p:cNvSpPr/>
          <p:nvPr/>
        </p:nvSpPr>
        <p:spPr>
          <a:xfrm>
            <a:off x="9646920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3" name="Shape 101"/>
          <p:cNvSpPr/>
          <p:nvPr/>
        </p:nvSpPr>
        <p:spPr>
          <a:xfrm>
            <a:off x="9843516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040112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236708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0433304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0629900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0826496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1023092" y="3657600"/>
            <a:ext cx="137160" cy="1371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1219688" y="3657600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9253728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112" name="Shape 110"/>
          <p:cNvSpPr/>
          <p:nvPr/>
        </p:nvSpPr>
        <p:spPr>
          <a:xfrm>
            <a:off x="9450324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113" name="Shape 111"/>
          <p:cNvSpPr/>
          <p:nvPr/>
        </p:nvSpPr>
        <p:spPr>
          <a:xfrm>
            <a:off x="9646920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114" name="Shape 112"/>
          <p:cNvSpPr/>
          <p:nvPr/>
        </p:nvSpPr>
        <p:spPr>
          <a:xfrm>
            <a:off x="9843516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040112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0236708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0433304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0629900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0826496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1023092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1219688" y="3858768"/>
            <a:ext cx="137160" cy="13716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122" name="Shape 120"/>
          <p:cNvSpPr/>
          <p:nvPr/>
        </p:nvSpPr>
        <p:spPr>
          <a:xfrm>
            <a:off x="548640" y="4361688"/>
            <a:ext cx="11091672" cy="1033272"/>
          </a:xfrm>
          <a:prstGeom prst="roundRect">
            <a:avLst>
              <a:gd name="adj" fmla="val 123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123" name="Text 121"/>
          <p:cNvSpPr txBox="1"/>
          <p:nvPr/>
        </p:nvSpPr>
        <p:spPr>
          <a:xfrm>
            <a:off x="822960" y="45445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REQUESTED FEATURES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 · multi-select</a:t>
            </a:r>
            <a:endParaRPr lang="en-US" sz="1050" dirty="0"/>
          </a:p>
        </p:txBody>
      </p:sp>
      <p:sp>
        <p:nvSpPr>
          <p:cNvPr id="124" name="Text 122"/>
          <p:cNvSpPr txBox="1"/>
          <p:nvPr/>
        </p:nvSpPr>
        <p:spPr>
          <a:xfrm>
            <a:off x="2926080" y="4498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event details</a:t>
            </a:r>
            <a:endParaRPr lang="en-US" sz="1200" dirty="0"/>
          </a:p>
        </p:txBody>
      </p:sp>
      <p:sp>
        <p:nvSpPr>
          <p:cNvPr id="125" name="Text 123"/>
          <p:cNvSpPr txBox="1"/>
          <p:nvPr/>
        </p:nvSpPr>
        <p:spPr>
          <a:xfrm>
            <a:off x="4937760" y="44988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45.5%</a:t>
            </a:r>
            <a:endParaRPr lang="en-US" sz="1200" dirty="0"/>
          </a:p>
        </p:txBody>
      </p:sp>
      <p:sp>
        <p:nvSpPr>
          <p:cNvPr id="126" name="Shape 124"/>
          <p:cNvSpPr/>
          <p:nvPr/>
        </p:nvSpPr>
        <p:spPr>
          <a:xfrm>
            <a:off x="2926080" y="4873752"/>
            <a:ext cx="2697480" cy="146304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</p:sp>
      <p:sp>
        <p:nvSpPr>
          <p:cNvPr id="127" name="Shape 125"/>
          <p:cNvSpPr/>
          <p:nvPr/>
        </p:nvSpPr>
        <p:spPr>
          <a:xfrm>
            <a:off x="2926080" y="4873752"/>
            <a:ext cx="1227353" cy="14630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128" name="Text 126"/>
          <p:cNvSpPr txBox="1"/>
          <p:nvPr/>
        </p:nvSpPr>
        <p:spPr>
          <a:xfrm>
            <a:off x="5833872" y="4498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calendar</a:t>
            </a:r>
            <a:endParaRPr lang="en-US" sz="1200" dirty="0"/>
          </a:p>
        </p:txBody>
      </p:sp>
      <p:sp>
        <p:nvSpPr>
          <p:cNvPr id="129" name="Text 127"/>
          <p:cNvSpPr txBox="1"/>
          <p:nvPr/>
        </p:nvSpPr>
        <p:spPr>
          <a:xfrm>
            <a:off x="7845552" y="44988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45.5%</a:t>
            </a:r>
            <a:endParaRPr lang="en-US" sz="1200" dirty="0"/>
          </a:p>
        </p:txBody>
      </p:sp>
      <p:sp>
        <p:nvSpPr>
          <p:cNvPr id="130" name="Shape 128"/>
          <p:cNvSpPr/>
          <p:nvPr/>
        </p:nvSpPr>
        <p:spPr>
          <a:xfrm>
            <a:off x="5833872" y="4873752"/>
            <a:ext cx="2697480" cy="146304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</p:sp>
      <p:sp>
        <p:nvSpPr>
          <p:cNvPr id="131" name="Shape 129"/>
          <p:cNvSpPr/>
          <p:nvPr/>
        </p:nvSpPr>
        <p:spPr>
          <a:xfrm>
            <a:off x="5833872" y="4873752"/>
            <a:ext cx="1227353" cy="14630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132" name="Text 130"/>
          <p:cNvSpPr txBox="1"/>
          <p:nvPr/>
        </p:nvSpPr>
        <p:spPr>
          <a:xfrm>
            <a:off x="8741664" y="4498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reminders</a:t>
            </a:r>
            <a:endParaRPr lang="en-US" sz="1200" dirty="0"/>
          </a:p>
        </p:txBody>
      </p:sp>
      <p:sp>
        <p:nvSpPr>
          <p:cNvPr id="133" name="Text 131"/>
          <p:cNvSpPr txBox="1"/>
          <p:nvPr/>
        </p:nvSpPr>
        <p:spPr>
          <a:xfrm>
            <a:off x="10753344" y="44988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36.4%</a:t>
            </a:r>
            <a:endParaRPr lang="en-US" sz="1200" dirty="0"/>
          </a:p>
        </p:txBody>
      </p:sp>
      <p:sp>
        <p:nvSpPr>
          <p:cNvPr id="134" name="Shape 132"/>
          <p:cNvSpPr/>
          <p:nvPr/>
        </p:nvSpPr>
        <p:spPr>
          <a:xfrm>
            <a:off x="8741664" y="4873752"/>
            <a:ext cx="2697480" cy="146304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</p:sp>
      <p:sp>
        <p:nvSpPr>
          <p:cNvPr id="135" name="Shape 133"/>
          <p:cNvSpPr/>
          <p:nvPr/>
        </p:nvSpPr>
        <p:spPr>
          <a:xfrm>
            <a:off x="8741664" y="4873752"/>
            <a:ext cx="981883" cy="14630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136" name="Shape 134"/>
          <p:cNvSpPr/>
          <p:nvPr/>
        </p:nvSpPr>
        <p:spPr>
          <a:xfrm>
            <a:off x="548640" y="5532120"/>
            <a:ext cx="11091672" cy="548640"/>
          </a:xfrm>
          <a:prstGeom prst="roundRect">
            <a:avLst>
              <a:gd name="adj" fmla="val 23333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85800" y="559612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5696712"/>
            <a:ext cx="201168" cy="201168"/>
          </a:xfrm>
          <a:prstGeom prst="rect">
            <a:avLst/>
          </a:prstGeom>
        </p:spPr>
      </p:pic>
      <p:sp>
        <p:nvSpPr>
          <p:cNvPr id="139" name="Text 136"/>
          <p:cNvSpPr txBox="1"/>
          <p:nvPr/>
        </p:nvSpPr>
        <p:spPr>
          <a:xfrm>
            <a:off x="1234440" y="55321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indicated a need for a more centralized and structured event experience.</a:t>
            </a:r>
            <a:endParaRPr lang="en-US" sz="1500" dirty="0"/>
          </a:p>
        </p:txBody>
      </p:sp>
      <p:sp>
        <p:nvSpPr>
          <p:cNvPr id="140" name="Text 137"/>
          <p:cNvSpPr txBox="1"/>
          <p:nvPr/>
        </p:nvSpPr>
        <p:spPr>
          <a:xfrm>
            <a:off x="548640" y="614476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one of the 22 respondents. Source: exploratory student survey (Google Forms), primarily second-year students.</a:t>
            </a:r>
            <a:endParaRPr lang="en-US" sz="900" dirty="0"/>
          </a:p>
        </p:txBody>
      </p:sp>
      <p:sp>
        <p:nvSpPr>
          <p:cNvPr id="1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06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USER PERSONA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Are We Designing For?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21240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5" name="Shape 3"/>
          <p:cNvSpPr/>
          <p:nvPr/>
        </p:nvSpPr>
        <p:spPr>
          <a:xfrm>
            <a:off x="10094976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6" name="Shape 4"/>
          <p:cNvSpPr/>
          <p:nvPr/>
        </p:nvSpPr>
        <p:spPr>
          <a:xfrm>
            <a:off x="10268712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7" name="Shape 5"/>
          <p:cNvSpPr/>
          <p:nvPr/>
        </p:nvSpPr>
        <p:spPr>
          <a:xfrm>
            <a:off x="10442448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8" name="Shape 6"/>
          <p:cNvSpPr/>
          <p:nvPr/>
        </p:nvSpPr>
        <p:spPr>
          <a:xfrm>
            <a:off x="10616184" y="438912"/>
            <a:ext cx="118872" cy="11887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438912"/>
            <a:ext cx="82296" cy="8229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10963656" y="438912"/>
            <a:ext cx="82296" cy="8229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11137392" y="438912"/>
            <a:ext cx="82296" cy="8229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11128" y="438912"/>
            <a:ext cx="82296" cy="8229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84864" y="438912"/>
            <a:ext cx="82296" cy="8229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1481328"/>
            <a:ext cx="3657600" cy="4416552"/>
          </a:xfrm>
          <a:prstGeom prst="roundRect">
            <a:avLst>
              <a:gd name="adj" fmla="val 3500"/>
            </a:avLst>
          </a:prstGeom>
          <a:solidFill>
            <a:srgbClr val="1E1B4B"/>
          </a:solidFill>
          <a:ln w="9525">
            <a:solidFill>
              <a:srgbClr val="1E1B4B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1801368"/>
            <a:ext cx="1143000" cy="1143000"/>
          </a:xfrm>
          <a:prstGeom prst="ellipse">
            <a:avLst/>
          </a:prstGeom>
          <a:solidFill>
            <a:srgbClr val="A78BFA"/>
          </a:solidFill>
          <a:ln w="38100">
            <a:solidFill>
              <a:srgbClr val="C4B5F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1801368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Aarav Kumar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2194560" y="245059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|  CSE  |  CUTM Undergraduate</a:t>
            </a:r>
            <a:endParaRPr lang="en-US" sz="11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37560"/>
            <a:ext cx="347472" cy="347472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68680" y="37947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know what’s happening on campus without having to search everywhere.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4480560" y="1481328"/>
            <a:ext cx="3502152" cy="278892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81728" y="1664208"/>
            <a:ext cx="420624" cy="420624"/>
          </a:xfrm>
          <a:prstGeom prst="ellipse">
            <a:avLst/>
          </a:prstGeom>
          <a:solidFill>
            <a:srgbClr val="E0E7FF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884" y="1769364"/>
            <a:ext cx="210312" cy="21031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212080" y="175564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4709160" y="2258568"/>
            <a:ext cx="30906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relevant events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complete information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quickly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registrations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missing deadlines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8165592" y="1481328"/>
            <a:ext cx="3474720" cy="278892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366760" y="1664208"/>
            <a:ext cx="420624" cy="420624"/>
          </a:xfrm>
          <a:prstGeom prst="ellipse">
            <a:avLst/>
          </a:prstGeom>
          <a:solidFill>
            <a:srgbClr val="FFE4E6"/>
          </a:solidFill>
          <a:ln/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1916" y="1769364"/>
            <a:ext cx="210312" cy="210312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897112" y="17556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8394192" y="2258568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information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discovery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Hard-to-find registration links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deadlines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tracking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4480560" y="4453128"/>
            <a:ext cx="7159752" cy="1444752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32" name="Text 27"/>
          <p:cNvSpPr txBox="1"/>
          <p:nvPr/>
        </p:nvSpPr>
        <p:spPr>
          <a:xfrm>
            <a:off x="4681728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4681728" y="5047488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6028" y="5161788"/>
            <a:ext cx="228600" cy="228600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5248656" y="5029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smartphone + laptop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7013448" y="5047488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7748" y="5161788"/>
            <a:ext cx="228600" cy="22860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7580376" y="5029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with digital platforms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9345168" y="5047488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9468" y="5161788"/>
            <a:ext cx="228600" cy="22860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9912096" y="5029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events through multiple channels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548640" y="6035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persona synthesized from survey findings.</a:t>
            </a:r>
            <a:endParaRPr lang="en-US" sz="11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CUSTOMER JOURNEY MAP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the Current Customer Journey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21240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5" name="Shape 3"/>
          <p:cNvSpPr/>
          <p:nvPr/>
        </p:nvSpPr>
        <p:spPr>
          <a:xfrm>
            <a:off x="10094976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6" name="Shape 4"/>
          <p:cNvSpPr/>
          <p:nvPr/>
        </p:nvSpPr>
        <p:spPr>
          <a:xfrm>
            <a:off x="10268712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7" name="Shape 5"/>
          <p:cNvSpPr/>
          <p:nvPr/>
        </p:nvSpPr>
        <p:spPr>
          <a:xfrm>
            <a:off x="10442448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8" name="Shape 6"/>
          <p:cNvSpPr/>
          <p:nvPr/>
        </p:nvSpPr>
        <p:spPr>
          <a:xfrm>
            <a:off x="10616184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438912"/>
            <a:ext cx="118872" cy="11887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Shape 8"/>
          <p:cNvSpPr/>
          <p:nvPr/>
        </p:nvSpPr>
        <p:spPr>
          <a:xfrm>
            <a:off x="10963656" y="438912"/>
            <a:ext cx="82296" cy="8229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11137392" y="438912"/>
            <a:ext cx="82296" cy="8229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11128" y="438912"/>
            <a:ext cx="82296" cy="8229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84864" y="438912"/>
            <a:ext cx="82296" cy="8229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176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TOUCHPOINT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8529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ACTION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295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315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0" y="1481328"/>
            <a:ext cx="1545336" cy="512064"/>
          </a:xfrm>
          <a:prstGeom prst="roundRect">
            <a:avLst>
              <a:gd name="adj" fmla="val 17857"/>
            </a:avLst>
          </a:prstGeom>
          <a:solidFill>
            <a:srgbClr val="4F46E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901952" y="1481328"/>
            <a:ext cx="1399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DISCOVER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28800" y="2121408"/>
            <a:ext cx="1545336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920240" y="2157984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Instagram, friends, posters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0" y="2798064"/>
            <a:ext cx="1545336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920240" y="283464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Hears about an event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28800" y="3474720"/>
            <a:ext cx="1545336" cy="603504"/>
          </a:xfrm>
          <a:prstGeom prst="roundRect">
            <a:avLst>
              <a:gd name="adj" fmla="val 21212"/>
            </a:avLst>
          </a:prstGeom>
          <a:solidFill>
            <a:srgbClr val="FFF1F2"/>
          </a:solidFill>
          <a:ln w="9525">
            <a:solidFill>
              <a:srgbClr val="FECDD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920240" y="3511296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/ late discovery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83864" y="1481328"/>
            <a:ext cx="1545336" cy="512064"/>
          </a:xfrm>
          <a:prstGeom prst="roundRect">
            <a:avLst>
              <a:gd name="adj" fmla="val 17857"/>
            </a:avLst>
          </a:prstGeom>
          <a:solidFill>
            <a:srgbClr val="4F46E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557016" y="1481328"/>
            <a:ext cx="1399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SEARCH INFORMATION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83864" y="2121408"/>
            <a:ext cx="1545336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75304" y="2157984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history, posters, college portal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83864" y="2798064"/>
            <a:ext cx="1545336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75304" y="283464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Scrolls through messages for details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83864" y="3474720"/>
            <a:ext cx="1545336" cy="603504"/>
          </a:xfrm>
          <a:prstGeom prst="roundRect">
            <a:avLst>
              <a:gd name="adj" fmla="val 21212"/>
            </a:avLst>
          </a:prstGeom>
          <a:solidFill>
            <a:srgbClr val="FFF1F2"/>
          </a:solidFill>
          <a:ln w="9525">
            <a:solidFill>
              <a:srgbClr val="FECDD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75304" y="3511296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through messages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138928" y="1481328"/>
            <a:ext cx="1545336" cy="512064"/>
          </a:xfrm>
          <a:prstGeom prst="roundRect">
            <a:avLst>
              <a:gd name="adj" fmla="val 17857"/>
            </a:avLst>
          </a:prstGeom>
          <a:solidFill>
            <a:srgbClr val="4F46E5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212080" y="1481328"/>
            <a:ext cx="1399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FIND REGISTRATION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138928" y="2121408"/>
            <a:ext cx="1545336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230368" y="2157984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Forwarded links and social posts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138928" y="2798064"/>
            <a:ext cx="1545336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230368" y="283464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Hunts for the link and the deadline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138928" y="3474720"/>
            <a:ext cx="1545336" cy="603504"/>
          </a:xfrm>
          <a:prstGeom prst="roundRect">
            <a:avLst>
              <a:gd name="adj" fmla="val 21212"/>
            </a:avLst>
          </a:prstGeom>
          <a:solidFill>
            <a:srgbClr val="FFF1F2"/>
          </a:solidFill>
          <a:ln w="9525">
            <a:solidFill>
              <a:srgbClr val="FECDD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230368" y="3511296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and deadline hard to locate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793992" y="1481328"/>
            <a:ext cx="1545336" cy="512064"/>
          </a:xfrm>
          <a:prstGeom prst="roundRect">
            <a:avLst>
              <a:gd name="adj" fmla="val 17857"/>
            </a:avLst>
          </a:prstGeom>
          <a:solidFill>
            <a:srgbClr val="4F46E5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867144" y="1481328"/>
            <a:ext cx="1399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REGISTER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793992" y="2121408"/>
            <a:ext cx="1545336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885432" y="2157984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registration form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793992" y="2798064"/>
            <a:ext cx="1545336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885432" y="283464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in the form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793992" y="3474720"/>
            <a:ext cx="1545336" cy="603504"/>
          </a:xfrm>
          <a:prstGeom prst="roundRect">
            <a:avLst>
              <a:gd name="adj" fmla="val 21212"/>
            </a:avLst>
          </a:prstGeom>
          <a:solidFill>
            <a:srgbClr val="FFF1F2"/>
          </a:solidFill>
          <a:ln w="9525">
            <a:solidFill>
              <a:srgbClr val="FECDD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885432" y="3511296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Unsure the registration worked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449056" y="1481328"/>
            <a:ext cx="1545336" cy="512064"/>
          </a:xfrm>
          <a:prstGeom prst="roundRect">
            <a:avLst>
              <a:gd name="adj" fmla="val 17857"/>
            </a:avLst>
          </a:prstGeom>
          <a:solidFill>
            <a:srgbClr val="4F46E5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522208" y="1481328"/>
            <a:ext cx="1399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TRACK EVENT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449056" y="2121408"/>
            <a:ext cx="1545336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540496" y="2157984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Chats, screenshots, memory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449056" y="2798064"/>
            <a:ext cx="1545336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540496" y="283464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Re-finds date, venue and requirements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449056" y="3474720"/>
            <a:ext cx="1545336" cy="603504"/>
          </a:xfrm>
          <a:prstGeom prst="roundRect">
            <a:avLst>
              <a:gd name="adj" fmla="val 21212"/>
            </a:avLst>
          </a:prstGeom>
          <a:solidFill>
            <a:srgbClr val="FFF1F2"/>
          </a:solidFill>
          <a:ln w="9525">
            <a:solidFill>
              <a:srgbClr val="FECDD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540496" y="3511296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Re-finding details after registering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10104120" y="1481328"/>
            <a:ext cx="1545336" cy="512064"/>
          </a:xfrm>
          <a:prstGeom prst="roundRect">
            <a:avLst>
              <a:gd name="adj" fmla="val 17857"/>
            </a:avLst>
          </a:prstGeom>
          <a:solidFill>
            <a:srgbClr val="4F46E5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10177272" y="1481328"/>
            <a:ext cx="1399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ATTEND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0104120" y="2121408"/>
            <a:ext cx="1545336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0195560" y="2157984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on the day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10104120" y="2798064"/>
            <a:ext cx="1545336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0195560" y="283464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up and takes part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10104120" y="3474720"/>
            <a:ext cx="1545336" cy="603504"/>
          </a:xfrm>
          <a:prstGeom prst="roundRect">
            <a:avLst>
              <a:gd name="adj" fmla="val 21212"/>
            </a:avLst>
          </a:prstGeom>
          <a:solidFill>
            <a:srgbClr val="FFF1F2"/>
          </a:solidFill>
          <a:ln w="9525">
            <a:solidFill>
              <a:srgbClr val="FECDD3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195560" y="3511296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event requirements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601468" y="4717390"/>
            <a:ext cx="1655064" cy="170078"/>
          </a:xfrm>
          <a:prstGeom prst="line">
            <a:avLst/>
          </a:prstGeom>
          <a:noFill/>
          <a:ln w="25400">
            <a:solidFill>
              <a:srgbClr val="C4B5F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256532" y="4887468"/>
            <a:ext cx="1655064" cy="113386"/>
          </a:xfrm>
          <a:prstGeom prst="line">
            <a:avLst/>
          </a:prstGeom>
          <a:noFill/>
          <a:ln w="25400">
            <a:solidFill>
              <a:srgbClr val="C4B5F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5911596" y="4745736"/>
            <a:ext cx="1655064" cy="255118"/>
          </a:xfrm>
          <a:prstGeom prst="line">
            <a:avLst/>
          </a:prstGeom>
          <a:noFill/>
          <a:ln w="25400">
            <a:solidFill>
              <a:srgbClr val="C4B5F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566660" y="4745736"/>
            <a:ext cx="1655064" cy="158740"/>
          </a:xfrm>
          <a:prstGeom prst="line">
            <a:avLst/>
          </a:prstGeom>
          <a:noFill/>
          <a:ln w="25400">
            <a:solidFill>
              <a:srgbClr val="C4B5F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9221724" y="4530303"/>
            <a:ext cx="1655064" cy="374172"/>
          </a:xfrm>
          <a:prstGeom prst="line">
            <a:avLst/>
          </a:prstGeom>
          <a:noFill/>
          <a:ln w="25400">
            <a:solidFill>
              <a:srgbClr val="C4B5F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455164" y="457108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316" y="4644238"/>
            <a:ext cx="146304" cy="146304"/>
          </a:xfrm>
          <a:prstGeom prst="rect">
            <a:avLst/>
          </a:prstGeom>
        </p:spPr>
      </p:pic>
      <p:sp>
        <p:nvSpPr>
          <p:cNvPr id="73" name="Shape 70"/>
          <p:cNvSpPr/>
          <p:nvPr/>
        </p:nvSpPr>
        <p:spPr>
          <a:xfrm>
            <a:off x="2455164" y="4571086"/>
            <a:ext cx="292608" cy="292608"/>
          </a:xfrm>
          <a:prstGeom prst="ellipse">
            <a:avLst/>
          </a:prstGeom>
          <a:ln w="12700">
            <a:solidFill>
              <a:srgbClr val="7C3AED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1828800" y="4891126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Curious but unsure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4110228" y="4741164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3380" y="4814316"/>
            <a:ext cx="146304" cy="146304"/>
          </a:xfrm>
          <a:prstGeom prst="rect">
            <a:avLst/>
          </a:prstGeom>
        </p:spPr>
      </p:pic>
      <p:sp>
        <p:nvSpPr>
          <p:cNvPr id="77" name="Shape 73"/>
          <p:cNvSpPr/>
          <p:nvPr/>
        </p:nvSpPr>
        <p:spPr>
          <a:xfrm>
            <a:off x="4110228" y="4741164"/>
            <a:ext cx="292608" cy="292608"/>
          </a:xfrm>
          <a:prstGeom prst="ellipse">
            <a:avLst/>
          </a:prstGeom>
          <a:ln w="12700">
            <a:solidFill>
              <a:srgbClr val="BE123C"/>
            </a:solidFill>
            <a:prstDash val="solid"/>
          </a:ln>
        </p:spPr>
      </p:sp>
      <p:sp>
        <p:nvSpPr>
          <p:cNvPr id="78" name="Text 74"/>
          <p:cNvSpPr txBox="1"/>
          <p:nvPr/>
        </p:nvSpPr>
        <p:spPr>
          <a:xfrm>
            <a:off x="3483864" y="5061204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</a:t>
            </a:r>
            <a:endParaRPr lang="en-US" sz="1000" dirty="0"/>
          </a:p>
        </p:txBody>
      </p:sp>
      <p:sp>
        <p:nvSpPr>
          <p:cNvPr id="79" name="Shape 75"/>
          <p:cNvSpPr/>
          <p:nvPr/>
        </p:nvSpPr>
        <p:spPr>
          <a:xfrm>
            <a:off x="5765292" y="485455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444" y="4927702"/>
            <a:ext cx="146304" cy="146304"/>
          </a:xfrm>
          <a:prstGeom prst="rect">
            <a:avLst/>
          </a:prstGeom>
        </p:spPr>
      </p:pic>
      <p:sp>
        <p:nvSpPr>
          <p:cNvPr id="81" name="Shape 76"/>
          <p:cNvSpPr/>
          <p:nvPr/>
        </p:nvSpPr>
        <p:spPr>
          <a:xfrm>
            <a:off x="5765292" y="4854550"/>
            <a:ext cx="292608" cy="292608"/>
          </a:xfrm>
          <a:prstGeom prst="ellipse">
            <a:avLst/>
          </a:prstGeom>
          <a:ln w="12700">
            <a:solidFill>
              <a:srgbClr val="BE123C"/>
            </a:solidFill>
            <a:prstDash val="solid"/>
          </a:ln>
        </p:spPr>
      </p:sp>
      <p:sp>
        <p:nvSpPr>
          <p:cNvPr id="82" name="Text 77"/>
          <p:cNvSpPr txBox="1"/>
          <p:nvPr/>
        </p:nvSpPr>
        <p:spPr>
          <a:xfrm>
            <a:off x="5138928" y="517459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Anxious</a:t>
            </a:r>
            <a:endParaRPr lang="en-US" sz="1000" dirty="0"/>
          </a:p>
        </p:txBody>
      </p:sp>
      <p:sp>
        <p:nvSpPr>
          <p:cNvPr id="83" name="Shape 78"/>
          <p:cNvSpPr/>
          <p:nvPr/>
        </p:nvSpPr>
        <p:spPr>
          <a:xfrm>
            <a:off x="7420356" y="459943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508" y="4672584"/>
            <a:ext cx="146304" cy="146304"/>
          </a:xfrm>
          <a:prstGeom prst="rect">
            <a:avLst/>
          </a:prstGeom>
        </p:spPr>
      </p:pic>
      <p:sp>
        <p:nvSpPr>
          <p:cNvPr id="85" name="Shape 79"/>
          <p:cNvSpPr/>
          <p:nvPr/>
        </p:nvSpPr>
        <p:spPr>
          <a:xfrm>
            <a:off x="7420356" y="4599432"/>
            <a:ext cx="292608" cy="292608"/>
          </a:xfrm>
          <a:prstGeom prst="ellipse">
            <a:avLst/>
          </a:prstGeom>
          <a:ln w="12700">
            <a:solidFill>
              <a:srgbClr val="7C3AED"/>
            </a:solidFill>
            <a:prstDash val="solid"/>
          </a:ln>
        </p:spPr>
      </p:sp>
      <p:sp>
        <p:nvSpPr>
          <p:cNvPr id="86" name="Text 80"/>
          <p:cNvSpPr txBox="1"/>
          <p:nvPr/>
        </p:nvSpPr>
        <p:spPr>
          <a:xfrm>
            <a:off x="6793992" y="4919472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Relieved, but unsure</a:t>
            </a:r>
            <a:endParaRPr lang="en-US" sz="1000" dirty="0"/>
          </a:p>
        </p:txBody>
      </p:sp>
      <p:sp>
        <p:nvSpPr>
          <p:cNvPr id="87" name="Shape 81"/>
          <p:cNvSpPr/>
          <p:nvPr/>
        </p:nvSpPr>
        <p:spPr>
          <a:xfrm>
            <a:off x="9075420" y="475817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8572" y="4831324"/>
            <a:ext cx="146304" cy="146304"/>
          </a:xfrm>
          <a:prstGeom prst="rect">
            <a:avLst/>
          </a:prstGeom>
        </p:spPr>
      </p:pic>
      <p:sp>
        <p:nvSpPr>
          <p:cNvPr id="89" name="Shape 82"/>
          <p:cNvSpPr/>
          <p:nvPr/>
        </p:nvSpPr>
        <p:spPr>
          <a:xfrm>
            <a:off x="9075420" y="4758172"/>
            <a:ext cx="292608" cy="292608"/>
          </a:xfrm>
          <a:prstGeom prst="ellipse">
            <a:avLst/>
          </a:prstGeom>
          <a:ln w="12700">
            <a:solidFill>
              <a:srgbClr val="BE123C"/>
            </a:solidFill>
            <a:prstDash val="solid"/>
          </a:ln>
        </p:spPr>
      </p:sp>
      <p:sp>
        <p:nvSpPr>
          <p:cNvPr id="90" name="Text 83"/>
          <p:cNvSpPr txBox="1"/>
          <p:nvPr/>
        </p:nvSpPr>
        <p:spPr>
          <a:xfrm>
            <a:off x="8449056" y="5078212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Stressed</a:t>
            </a:r>
            <a:endParaRPr lang="en-US" sz="1000" dirty="0"/>
          </a:p>
        </p:txBody>
      </p:sp>
      <p:sp>
        <p:nvSpPr>
          <p:cNvPr id="91" name="Shape 84"/>
          <p:cNvSpPr/>
          <p:nvPr/>
        </p:nvSpPr>
        <p:spPr>
          <a:xfrm>
            <a:off x="10730484" y="4383999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3636" y="4457151"/>
            <a:ext cx="146304" cy="146304"/>
          </a:xfrm>
          <a:prstGeom prst="rect">
            <a:avLst/>
          </a:prstGeom>
        </p:spPr>
      </p:pic>
      <p:sp>
        <p:nvSpPr>
          <p:cNvPr id="93" name="Shape 85"/>
          <p:cNvSpPr/>
          <p:nvPr/>
        </p:nvSpPr>
        <p:spPr>
          <a:xfrm>
            <a:off x="10730484" y="4383999"/>
            <a:ext cx="292608" cy="292608"/>
          </a:xfrm>
          <a:prstGeom prst="ellipse">
            <a:avLst/>
          </a:prstGeom>
          <a:ln w="12700">
            <a:solidFill>
              <a:srgbClr val="0D9488"/>
            </a:solidFill>
            <a:prstDash val="solid"/>
          </a:ln>
        </p:spPr>
      </p:sp>
      <p:sp>
        <p:nvSpPr>
          <p:cNvPr id="94" name="Text 86"/>
          <p:cNvSpPr txBox="1"/>
          <p:nvPr/>
        </p:nvSpPr>
        <p:spPr>
          <a:xfrm>
            <a:off x="10104120" y="4704039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</a:t>
            </a:r>
            <a:endParaRPr lang="en-US" sz="1000" dirty="0"/>
          </a:p>
        </p:txBody>
      </p:sp>
      <p:sp>
        <p:nvSpPr>
          <p:cNvPr id="95" name="Shape 87"/>
          <p:cNvSpPr/>
          <p:nvPr/>
        </p:nvSpPr>
        <p:spPr>
          <a:xfrm>
            <a:off x="548640" y="5504688"/>
            <a:ext cx="11091672" cy="585216"/>
          </a:xfrm>
          <a:prstGeom prst="roundRect">
            <a:avLst>
              <a:gd name="adj" fmla="val 21875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96" name="Text 88"/>
          <p:cNvSpPr txBox="1"/>
          <p:nvPr/>
        </p:nvSpPr>
        <p:spPr>
          <a:xfrm>
            <a:off x="777240" y="550468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revealed friction across discovery, information retrieval, registration and post-registration tracking.</a:t>
            </a:r>
            <a:endParaRPr lang="en-US" sz="1400" dirty="0"/>
          </a:p>
        </p:txBody>
      </p:sp>
      <p:sp>
        <p:nvSpPr>
          <p:cNvPr id="97" name="Text 89"/>
          <p:cNvSpPr txBox="1"/>
          <p:nvPr/>
        </p:nvSpPr>
        <p:spPr>
          <a:xfrm>
            <a:off x="548640" y="614476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Emotions are the team’s interpretation of the journey.</a:t>
            </a:r>
            <a:endParaRPr lang="en-US" sz="900" dirty="0"/>
          </a:p>
        </p:txBody>
      </p:sp>
      <p:sp>
        <p:nvSpPr>
          <p:cNvPr id="9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835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DESIGN OPPORTUNITY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Pain Points to Design Opportunity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21240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5" name="Shape 3"/>
          <p:cNvSpPr/>
          <p:nvPr/>
        </p:nvSpPr>
        <p:spPr>
          <a:xfrm>
            <a:off x="10094976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6" name="Shape 4"/>
          <p:cNvSpPr/>
          <p:nvPr/>
        </p:nvSpPr>
        <p:spPr>
          <a:xfrm>
            <a:off x="10268712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7" name="Shape 5"/>
          <p:cNvSpPr/>
          <p:nvPr/>
        </p:nvSpPr>
        <p:spPr>
          <a:xfrm>
            <a:off x="10442448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8" name="Shape 6"/>
          <p:cNvSpPr/>
          <p:nvPr/>
        </p:nvSpPr>
        <p:spPr>
          <a:xfrm>
            <a:off x="10616184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10" name="Shape 8"/>
          <p:cNvSpPr/>
          <p:nvPr/>
        </p:nvSpPr>
        <p:spPr>
          <a:xfrm>
            <a:off x="10963656" y="438912"/>
            <a:ext cx="118872" cy="11887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Shape 9"/>
          <p:cNvSpPr/>
          <p:nvPr/>
        </p:nvSpPr>
        <p:spPr>
          <a:xfrm>
            <a:off x="11137392" y="438912"/>
            <a:ext cx="82296" cy="8229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11128" y="438912"/>
            <a:ext cx="82296" cy="8229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84864" y="438912"/>
            <a:ext cx="82296" cy="8229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14813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EXPERIENCE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1755648"/>
            <a:ext cx="902643" cy="566928"/>
          </a:xfrm>
          <a:prstGeom prst="roundRect">
            <a:avLst>
              <a:gd name="adj" fmla="val 16129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1755648"/>
            <a:ext cx="8660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469571" y="2039112"/>
            <a:ext cx="91440" cy="91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579299" y="1755648"/>
            <a:ext cx="902643" cy="566928"/>
          </a:xfrm>
          <a:prstGeom prst="roundRect">
            <a:avLst>
              <a:gd name="adj" fmla="val 16129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597587" y="1755648"/>
            <a:ext cx="8660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multiple channels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00231" y="2039112"/>
            <a:ext cx="91440" cy="91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609959" y="1755648"/>
            <a:ext cx="902643" cy="566928"/>
          </a:xfrm>
          <a:prstGeom prst="roundRect">
            <a:avLst>
              <a:gd name="adj" fmla="val 16129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28247" y="1755648"/>
            <a:ext cx="8660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information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530890" y="2039112"/>
            <a:ext cx="91440" cy="91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640618" y="1755648"/>
            <a:ext cx="902643" cy="566928"/>
          </a:xfrm>
          <a:prstGeom prst="roundRect">
            <a:avLst>
              <a:gd name="adj" fmla="val 16129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58906" y="1755648"/>
            <a:ext cx="8660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registration link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61550" y="2039112"/>
            <a:ext cx="91440" cy="91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671278" y="1755648"/>
            <a:ext cx="902643" cy="566928"/>
          </a:xfrm>
          <a:prstGeom prst="roundRect">
            <a:avLst>
              <a:gd name="adj" fmla="val 16129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89566" y="1755648"/>
            <a:ext cx="8660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92209" y="2039112"/>
            <a:ext cx="91440" cy="91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701937" y="1755648"/>
            <a:ext cx="902643" cy="566928"/>
          </a:xfrm>
          <a:prstGeom prst="roundRect">
            <a:avLst>
              <a:gd name="adj" fmla="val 16129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20225" y="1755648"/>
            <a:ext cx="8660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again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622869" y="2039112"/>
            <a:ext cx="91440" cy="91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732597" y="1755648"/>
            <a:ext cx="902643" cy="566928"/>
          </a:xfrm>
          <a:prstGeom prst="roundRect">
            <a:avLst>
              <a:gd name="adj" fmla="val 16129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50885" y="1755648"/>
            <a:ext cx="8660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manually</a:t>
            </a:r>
            <a:endParaRPr lang="en-US" sz="95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414016"/>
            <a:ext cx="292608" cy="292608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548640" y="26883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EXPERIENCE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48640" y="2962656"/>
            <a:ext cx="773811" cy="566928"/>
          </a:xfrm>
          <a:prstGeom prst="roundRect">
            <a:avLst>
              <a:gd name="adj" fmla="val 16129"/>
            </a:avLst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66928" y="2962656"/>
            <a:ext cx="7372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1340739" y="3246120"/>
            <a:ext cx="91440" cy="91"/>
          </a:xfrm>
          <a:prstGeom prst="line">
            <a:avLst/>
          </a:prstGeom>
          <a:noFill/>
          <a:ln w="127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1450467" y="2962656"/>
            <a:ext cx="773811" cy="566928"/>
          </a:xfrm>
          <a:prstGeom prst="roundRect">
            <a:avLst>
              <a:gd name="adj" fmla="val 16129"/>
            </a:avLst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468755" y="2962656"/>
            <a:ext cx="7372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complete details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2242566" y="3246120"/>
            <a:ext cx="91440" cy="91"/>
          </a:xfrm>
          <a:prstGeom prst="line">
            <a:avLst/>
          </a:prstGeom>
          <a:noFill/>
          <a:ln w="127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2352294" y="2962656"/>
            <a:ext cx="773811" cy="566928"/>
          </a:xfrm>
          <a:prstGeom prst="roundRect">
            <a:avLst>
              <a:gd name="adj" fmla="val 16129"/>
            </a:avLst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370582" y="2962656"/>
            <a:ext cx="7372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3144393" y="3246120"/>
            <a:ext cx="91440" cy="91"/>
          </a:xfrm>
          <a:prstGeom prst="line">
            <a:avLst/>
          </a:prstGeom>
          <a:noFill/>
          <a:ln w="127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3254121" y="2962656"/>
            <a:ext cx="773811" cy="566928"/>
          </a:xfrm>
          <a:prstGeom prst="roundRect">
            <a:avLst>
              <a:gd name="adj" fmla="val 16129"/>
            </a:avLst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3272409" y="2962656"/>
            <a:ext cx="7372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046220" y="3246120"/>
            <a:ext cx="91440" cy="91"/>
          </a:xfrm>
          <a:prstGeom prst="line">
            <a:avLst/>
          </a:prstGeom>
          <a:noFill/>
          <a:ln w="127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4155948" y="2962656"/>
            <a:ext cx="773811" cy="566928"/>
          </a:xfrm>
          <a:prstGeom prst="roundRect">
            <a:avLst>
              <a:gd name="adj" fmla="val 16129"/>
            </a:avLst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174236" y="2962656"/>
            <a:ext cx="7372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/ My Events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4948047" y="3246120"/>
            <a:ext cx="91440" cy="91"/>
          </a:xfrm>
          <a:prstGeom prst="line">
            <a:avLst/>
          </a:prstGeom>
          <a:noFill/>
          <a:ln w="127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5057775" y="2962656"/>
            <a:ext cx="773811" cy="566928"/>
          </a:xfrm>
          <a:prstGeom prst="roundRect">
            <a:avLst>
              <a:gd name="adj" fmla="val 16129"/>
            </a:avLst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076063" y="2962656"/>
            <a:ext cx="7372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5849874" y="3246120"/>
            <a:ext cx="91440" cy="91"/>
          </a:xfrm>
          <a:prstGeom prst="line">
            <a:avLst/>
          </a:prstGeom>
          <a:noFill/>
          <a:ln w="127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55" name="Shape 52"/>
          <p:cNvSpPr/>
          <p:nvPr/>
        </p:nvSpPr>
        <p:spPr>
          <a:xfrm>
            <a:off x="5959602" y="2962656"/>
            <a:ext cx="773811" cy="566928"/>
          </a:xfrm>
          <a:prstGeom prst="roundRect">
            <a:avLst>
              <a:gd name="adj" fmla="val 16129"/>
            </a:avLst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5977890" y="2962656"/>
            <a:ext cx="7372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6751701" y="3246120"/>
            <a:ext cx="91440" cy="91"/>
          </a:xfrm>
          <a:prstGeom prst="line">
            <a:avLst/>
          </a:prstGeom>
          <a:noFill/>
          <a:ln w="127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58" name="Shape 55"/>
          <p:cNvSpPr/>
          <p:nvPr/>
        </p:nvSpPr>
        <p:spPr>
          <a:xfrm>
            <a:off x="6861429" y="2962656"/>
            <a:ext cx="773811" cy="566928"/>
          </a:xfrm>
          <a:prstGeom prst="roundRect">
            <a:avLst>
              <a:gd name="adj" fmla="val 16129"/>
            </a:avLst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6879717" y="2962656"/>
            <a:ext cx="7372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548640" y="3840480"/>
            <a:ext cx="7086600" cy="1417320"/>
          </a:xfrm>
          <a:prstGeom prst="roundRect">
            <a:avLst>
              <a:gd name="adj" fmla="val 9032"/>
            </a:avLst>
          </a:prstGeom>
          <a:solidFill>
            <a:srgbClr val="1E1B4B"/>
          </a:solidFill>
          <a:ln w="9525">
            <a:solidFill>
              <a:srgbClr val="1E1B4B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61" name="Text 58"/>
          <p:cNvSpPr txBox="1"/>
          <p:nvPr/>
        </p:nvSpPr>
        <p:spPr>
          <a:xfrm>
            <a:off x="822960" y="4023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GOAL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822960" y="429768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centralized, low-friction experience for discovering, registering for and managing campus events.</a:t>
            </a:r>
            <a:endParaRPr lang="en-US" sz="1700" dirty="0"/>
          </a:p>
        </p:txBody>
      </p:sp>
      <p:sp>
        <p:nvSpPr>
          <p:cNvPr id="63" name="Shape 60"/>
          <p:cNvSpPr/>
          <p:nvPr/>
        </p:nvSpPr>
        <p:spPr>
          <a:xfrm>
            <a:off x="7909560" y="1481328"/>
            <a:ext cx="3730752" cy="3776472"/>
          </a:xfrm>
          <a:prstGeom prst="roundRect">
            <a:avLst>
              <a:gd name="adj" fmla="val 343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8138160" y="1691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need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9646920" y="1691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EventEase response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8138160" y="2011680"/>
            <a:ext cx="3291840" cy="91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138160" y="217627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details</a:t>
            </a:r>
            <a:endParaRPr lang="en-US" sz="1250" dirty="0"/>
          </a:p>
        </p:txBody>
      </p:sp>
      <p:sp>
        <p:nvSpPr>
          <p:cNvPr id="68" name="Shape 65"/>
          <p:cNvSpPr/>
          <p:nvPr/>
        </p:nvSpPr>
        <p:spPr>
          <a:xfrm>
            <a:off x="9646920" y="2377440"/>
            <a:ext cx="301752" cy="91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69" name="Shape 66"/>
          <p:cNvSpPr/>
          <p:nvPr/>
        </p:nvSpPr>
        <p:spPr>
          <a:xfrm>
            <a:off x="10012680" y="2185416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12680" y="218541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Details</a:t>
            </a:r>
            <a:endParaRPr lang="en-US" sz="1100" dirty="0"/>
          </a:p>
        </p:txBody>
      </p:sp>
      <p:sp>
        <p:nvSpPr>
          <p:cNvPr id="71" name="Text 68"/>
          <p:cNvSpPr txBox="1"/>
          <p:nvPr/>
        </p:nvSpPr>
        <p:spPr>
          <a:xfrm>
            <a:off x="8138160" y="277977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250" dirty="0"/>
          </a:p>
        </p:txBody>
      </p:sp>
      <p:sp>
        <p:nvSpPr>
          <p:cNvPr id="72" name="Shape 69"/>
          <p:cNvSpPr/>
          <p:nvPr/>
        </p:nvSpPr>
        <p:spPr>
          <a:xfrm>
            <a:off x="9646920" y="2980944"/>
            <a:ext cx="301752" cy="91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73" name="Shape 70"/>
          <p:cNvSpPr/>
          <p:nvPr/>
        </p:nvSpPr>
        <p:spPr>
          <a:xfrm>
            <a:off x="10012680" y="2788920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10012680" y="278892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100" dirty="0"/>
          </a:p>
        </p:txBody>
      </p:sp>
      <p:sp>
        <p:nvSpPr>
          <p:cNvPr id="75" name="Text 72"/>
          <p:cNvSpPr txBox="1"/>
          <p:nvPr/>
        </p:nvSpPr>
        <p:spPr>
          <a:xfrm>
            <a:off x="8138160" y="338328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</a:t>
            </a:r>
            <a:endParaRPr lang="en-US" sz="1250" dirty="0"/>
          </a:p>
        </p:txBody>
      </p:sp>
      <p:sp>
        <p:nvSpPr>
          <p:cNvPr id="76" name="Shape 73"/>
          <p:cNvSpPr/>
          <p:nvPr/>
        </p:nvSpPr>
        <p:spPr>
          <a:xfrm>
            <a:off x="9646920" y="3584448"/>
            <a:ext cx="301752" cy="91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77" name="Shape 74"/>
          <p:cNvSpPr/>
          <p:nvPr/>
        </p:nvSpPr>
        <p:spPr>
          <a:xfrm>
            <a:off x="10012680" y="3392424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10012680" y="339242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79" name="Text 76"/>
          <p:cNvSpPr txBox="1"/>
          <p:nvPr/>
        </p:nvSpPr>
        <p:spPr>
          <a:xfrm>
            <a:off x="8138160" y="398678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events</a:t>
            </a:r>
            <a:endParaRPr lang="en-US" sz="1250" dirty="0"/>
          </a:p>
        </p:txBody>
      </p:sp>
      <p:sp>
        <p:nvSpPr>
          <p:cNvPr id="80" name="Shape 77"/>
          <p:cNvSpPr/>
          <p:nvPr/>
        </p:nvSpPr>
        <p:spPr>
          <a:xfrm>
            <a:off x="9646920" y="4187952"/>
            <a:ext cx="301752" cy="91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81" name="Shape 78"/>
          <p:cNvSpPr/>
          <p:nvPr/>
        </p:nvSpPr>
        <p:spPr>
          <a:xfrm>
            <a:off x="10012680" y="3995928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10012680" y="399592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Events</a:t>
            </a:r>
            <a:endParaRPr lang="en-US" sz="1100" dirty="0"/>
          </a:p>
        </p:txBody>
      </p:sp>
      <p:sp>
        <p:nvSpPr>
          <p:cNvPr id="83" name="Text 80"/>
          <p:cNvSpPr txBox="1"/>
          <p:nvPr/>
        </p:nvSpPr>
        <p:spPr>
          <a:xfrm>
            <a:off x="8138160" y="459028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pass</a:t>
            </a:r>
            <a:endParaRPr lang="en-US" sz="1250" dirty="0"/>
          </a:p>
        </p:txBody>
      </p:sp>
      <p:sp>
        <p:nvSpPr>
          <p:cNvPr id="84" name="Shape 81"/>
          <p:cNvSpPr/>
          <p:nvPr/>
        </p:nvSpPr>
        <p:spPr>
          <a:xfrm>
            <a:off x="9646920" y="4791456"/>
            <a:ext cx="301752" cy="91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85" name="Shape 82"/>
          <p:cNvSpPr/>
          <p:nvPr/>
        </p:nvSpPr>
        <p:spPr>
          <a:xfrm>
            <a:off x="10012680" y="4599432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10012680" y="459943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Pass</a:t>
            </a:r>
            <a:endParaRPr lang="en-US" sz="1100" dirty="0"/>
          </a:p>
        </p:txBody>
      </p:sp>
      <p:sp>
        <p:nvSpPr>
          <p:cNvPr id="87" name="Text 84"/>
          <p:cNvSpPr txBox="1"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didn’t just add features: each CX finding became a design requirement.</a:t>
            </a:r>
            <a:endParaRPr lang="en-US" sz="1400" dirty="0"/>
          </a:p>
        </p:txBody>
      </p:sp>
      <p:sp>
        <p:nvSpPr>
          <p:cNvPr id="8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376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FROM CX TO UX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Translating the CX Journey into the Product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21240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5" name="Shape 3"/>
          <p:cNvSpPr/>
          <p:nvPr/>
        </p:nvSpPr>
        <p:spPr>
          <a:xfrm>
            <a:off x="10094976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6" name="Shape 4"/>
          <p:cNvSpPr/>
          <p:nvPr/>
        </p:nvSpPr>
        <p:spPr>
          <a:xfrm>
            <a:off x="10268712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7" name="Shape 5"/>
          <p:cNvSpPr/>
          <p:nvPr/>
        </p:nvSpPr>
        <p:spPr>
          <a:xfrm>
            <a:off x="10442448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8" name="Shape 6"/>
          <p:cNvSpPr/>
          <p:nvPr/>
        </p:nvSpPr>
        <p:spPr>
          <a:xfrm>
            <a:off x="10616184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10" name="Shape 8"/>
          <p:cNvSpPr/>
          <p:nvPr/>
        </p:nvSpPr>
        <p:spPr>
          <a:xfrm>
            <a:off x="10963656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11" name="Shape 9"/>
          <p:cNvSpPr/>
          <p:nvPr/>
        </p:nvSpPr>
        <p:spPr>
          <a:xfrm>
            <a:off x="11137392" y="438912"/>
            <a:ext cx="118872" cy="11887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11128" y="438912"/>
            <a:ext cx="82296" cy="8229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84864" y="438912"/>
            <a:ext cx="82296" cy="8229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1481328"/>
            <a:ext cx="6035040" cy="4462272"/>
          </a:xfrm>
          <a:prstGeom prst="roundRect">
            <a:avLst>
              <a:gd name="adj" fmla="val 28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1645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199339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9525">
            <a:solidFill>
              <a:srgbClr val="1E1B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199339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988820" y="2331720"/>
            <a:ext cx="91" cy="82296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4400" y="2423160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242316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988820" y="2761488"/>
            <a:ext cx="91" cy="82296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4400" y="2852928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285292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Filter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988820" y="3191256"/>
            <a:ext cx="91" cy="82296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4400" y="3282696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328269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Details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988820" y="3621024"/>
            <a:ext cx="91" cy="82296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14400" y="3712464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4400" y="371246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988820" y="4050792"/>
            <a:ext cx="91" cy="82296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14400" y="414223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4142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988820" y="4480560"/>
            <a:ext cx="91" cy="82296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14400" y="4572000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4400" y="457200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Events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988820" y="4910328"/>
            <a:ext cx="91" cy="82296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14400" y="5001768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4400" y="500176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/ Attend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988820" y="5340096"/>
            <a:ext cx="91" cy="82296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14400" y="5431536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9525">
            <a:solidFill>
              <a:srgbClr val="1E1B4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14400" y="543153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337560" y="2029968"/>
            <a:ext cx="91" cy="1115568"/>
          </a:xfrm>
          <a:prstGeom prst="line">
            <a:avLst/>
          </a:prstGeom>
          <a:noFill/>
          <a:ln w="25400">
            <a:solidFill>
              <a:srgbClr val="C4B5F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520440" y="2039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3520440" y="234086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find campus events, with search and filters.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337560" y="3319272"/>
            <a:ext cx="91" cy="1115568"/>
          </a:xfrm>
          <a:prstGeom prst="line">
            <a:avLst/>
          </a:prstGeom>
          <a:noFill/>
          <a:ln w="25400">
            <a:solidFill>
              <a:srgbClr val="C4B5F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520440" y="33284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&amp; register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3520440" y="36301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details, then a clear confirmation.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337560" y="4608576"/>
            <a:ext cx="91" cy="1115568"/>
          </a:xfrm>
          <a:prstGeom prst="line">
            <a:avLst/>
          </a:prstGeom>
          <a:noFill/>
          <a:ln w="25400">
            <a:solidFill>
              <a:srgbClr val="C4B5F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520440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&amp; reflect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3520440" y="49194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Registrations, reminders and feedback in one place.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812280" y="1481328"/>
            <a:ext cx="4828032" cy="4462272"/>
          </a:xfrm>
          <a:prstGeom prst="roundRect">
            <a:avLst>
              <a:gd name="adj" fmla="val 28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52" name="Text 50"/>
          <p:cNvSpPr txBox="1"/>
          <p:nvPr/>
        </p:nvSpPr>
        <p:spPr>
          <a:xfrm>
            <a:off x="7086600" y="1645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ARCHITECTURE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86600" y="199339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7086600" y="19933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EventEase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315200" y="2377440"/>
            <a:ext cx="91" cy="3236976"/>
          </a:xfrm>
          <a:prstGeom prst="line">
            <a:avLst/>
          </a:prstGeom>
          <a:noFill/>
          <a:ln w="15875">
            <a:solidFill>
              <a:srgbClr val="C4B5F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00" y="2761488"/>
            <a:ext cx="201168" cy="91"/>
          </a:xfrm>
          <a:prstGeom prst="line">
            <a:avLst/>
          </a:prstGeom>
          <a:noFill/>
          <a:ln w="15875">
            <a:solidFill>
              <a:srgbClr val="C4B5F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543800" y="2606040"/>
            <a:ext cx="310896" cy="310896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5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524" y="2683764"/>
            <a:ext cx="155448" cy="155448"/>
          </a:xfrm>
          <a:prstGeom prst="rect">
            <a:avLst/>
          </a:prstGeom>
        </p:spPr>
      </p:pic>
      <p:sp>
        <p:nvSpPr>
          <p:cNvPr id="59" name="Text 56"/>
          <p:cNvSpPr txBox="1"/>
          <p:nvPr/>
        </p:nvSpPr>
        <p:spPr>
          <a:xfrm>
            <a:off x="7955280" y="259689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9235440" y="259689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Recommendations, upcoming events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7315200" y="3236976"/>
            <a:ext cx="201168" cy="91"/>
          </a:xfrm>
          <a:prstGeom prst="line">
            <a:avLst/>
          </a:prstGeom>
          <a:noFill/>
          <a:ln w="15875">
            <a:solidFill>
              <a:srgbClr val="C4B5FD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543800" y="3081528"/>
            <a:ext cx="310896" cy="310896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6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1524" y="3159252"/>
            <a:ext cx="155448" cy="155448"/>
          </a:xfrm>
          <a:prstGeom prst="rect">
            <a:avLst/>
          </a:prstGeom>
        </p:spPr>
      </p:pic>
      <p:sp>
        <p:nvSpPr>
          <p:cNvPr id="64" name="Text 60"/>
          <p:cNvSpPr txBox="1"/>
          <p:nvPr/>
        </p:nvSpPr>
        <p:spPr>
          <a:xfrm>
            <a:off x="7955280" y="307238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200" dirty="0"/>
          </a:p>
        </p:txBody>
      </p:sp>
      <p:sp>
        <p:nvSpPr>
          <p:cNvPr id="65" name="Text 61"/>
          <p:cNvSpPr txBox="1"/>
          <p:nvPr/>
        </p:nvSpPr>
        <p:spPr>
          <a:xfrm>
            <a:off x="9235440" y="30723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category filters, event details</a:t>
            </a:r>
            <a:endParaRPr lang="en-US" sz="1000" dirty="0"/>
          </a:p>
        </p:txBody>
      </p:sp>
      <p:sp>
        <p:nvSpPr>
          <p:cNvPr id="66" name="Shape 62"/>
          <p:cNvSpPr/>
          <p:nvPr/>
        </p:nvSpPr>
        <p:spPr>
          <a:xfrm>
            <a:off x="7315200" y="3712464"/>
            <a:ext cx="201168" cy="91"/>
          </a:xfrm>
          <a:prstGeom prst="line">
            <a:avLst/>
          </a:prstGeom>
          <a:noFill/>
          <a:ln w="15875">
            <a:solidFill>
              <a:srgbClr val="C4B5FD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7543800" y="3557016"/>
            <a:ext cx="310896" cy="310896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6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1524" y="3634740"/>
            <a:ext cx="155448" cy="155448"/>
          </a:xfrm>
          <a:prstGeom prst="rect">
            <a:avLst/>
          </a:prstGeom>
        </p:spPr>
      </p:pic>
      <p:sp>
        <p:nvSpPr>
          <p:cNvPr id="69" name="Text 64"/>
          <p:cNvSpPr txBox="1"/>
          <p:nvPr/>
        </p:nvSpPr>
        <p:spPr>
          <a:xfrm>
            <a:off x="7955280" y="354787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200" dirty="0"/>
          </a:p>
        </p:txBody>
      </p:sp>
      <p:sp>
        <p:nvSpPr>
          <p:cNvPr id="70" name="Text 65"/>
          <p:cNvSpPr txBox="1"/>
          <p:nvPr/>
        </p:nvSpPr>
        <p:spPr>
          <a:xfrm>
            <a:off x="9235440" y="35478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events by month</a:t>
            </a:r>
            <a:endParaRPr lang="en-US" sz="1000" dirty="0"/>
          </a:p>
        </p:txBody>
      </p:sp>
      <p:sp>
        <p:nvSpPr>
          <p:cNvPr id="71" name="Shape 66"/>
          <p:cNvSpPr/>
          <p:nvPr/>
        </p:nvSpPr>
        <p:spPr>
          <a:xfrm>
            <a:off x="7315200" y="4187952"/>
            <a:ext cx="201168" cy="91"/>
          </a:xfrm>
          <a:prstGeom prst="line">
            <a:avLst/>
          </a:prstGeom>
          <a:noFill/>
          <a:ln w="15875">
            <a:solidFill>
              <a:srgbClr val="C4B5FD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7543800" y="4032504"/>
            <a:ext cx="310896" cy="310896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7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1524" y="4110228"/>
            <a:ext cx="155448" cy="155448"/>
          </a:xfrm>
          <a:prstGeom prst="rect">
            <a:avLst/>
          </a:prstGeom>
        </p:spPr>
      </p:pic>
      <p:sp>
        <p:nvSpPr>
          <p:cNvPr id="74" name="Text 68"/>
          <p:cNvSpPr txBox="1"/>
          <p:nvPr/>
        </p:nvSpPr>
        <p:spPr>
          <a:xfrm>
            <a:off x="7955280" y="40233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</a:t>
            </a:r>
            <a:endParaRPr lang="en-US" sz="1200" dirty="0"/>
          </a:p>
        </p:txBody>
      </p:sp>
      <p:sp>
        <p:nvSpPr>
          <p:cNvPr id="75" name="Text 69"/>
          <p:cNvSpPr txBox="1"/>
          <p:nvPr/>
        </p:nvSpPr>
        <p:spPr>
          <a:xfrm>
            <a:off x="9235440" y="40233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pages, follow</a:t>
            </a:r>
            <a:endParaRPr lang="en-US" sz="1000" dirty="0"/>
          </a:p>
        </p:txBody>
      </p:sp>
      <p:sp>
        <p:nvSpPr>
          <p:cNvPr id="76" name="Shape 70"/>
          <p:cNvSpPr/>
          <p:nvPr/>
        </p:nvSpPr>
        <p:spPr>
          <a:xfrm>
            <a:off x="7315200" y="4663440"/>
            <a:ext cx="201168" cy="91"/>
          </a:xfrm>
          <a:prstGeom prst="line">
            <a:avLst/>
          </a:prstGeom>
          <a:noFill/>
          <a:ln w="15875">
            <a:solidFill>
              <a:srgbClr val="C4B5FD"/>
            </a:solidFill>
            <a:prstDash val="solid"/>
          </a:ln>
        </p:spPr>
      </p:sp>
      <p:sp>
        <p:nvSpPr>
          <p:cNvPr id="77" name="Shape 71"/>
          <p:cNvSpPr/>
          <p:nvPr/>
        </p:nvSpPr>
        <p:spPr>
          <a:xfrm>
            <a:off x="7543800" y="4507992"/>
            <a:ext cx="310896" cy="310896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7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1524" y="4585716"/>
            <a:ext cx="155448" cy="155448"/>
          </a:xfrm>
          <a:prstGeom prst="rect">
            <a:avLst/>
          </a:prstGeom>
        </p:spPr>
      </p:pic>
      <p:sp>
        <p:nvSpPr>
          <p:cNvPr id="79" name="Text 72"/>
          <p:cNvSpPr txBox="1"/>
          <p:nvPr/>
        </p:nvSpPr>
        <p:spPr>
          <a:xfrm>
            <a:off x="7955280" y="449884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80" name="Text 73"/>
          <p:cNvSpPr txBox="1"/>
          <p:nvPr/>
        </p:nvSpPr>
        <p:spPr>
          <a:xfrm>
            <a:off x="9235440" y="44988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Internships, scholarships, competitions</a:t>
            </a:r>
            <a:endParaRPr lang="en-US" sz="1000" dirty="0"/>
          </a:p>
        </p:txBody>
      </p:sp>
      <p:sp>
        <p:nvSpPr>
          <p:cNvPr id="81" name="Shape 74"/>
          <p:cNvSpPr/>
          <p:nvPr/>
        </p:nvSpPr>
        <p:spPr>
          <a:xfrm>
            <a:off x="7315200" y="5138928"/>
            <a:ext cx="201168" cy="91"/>
          </a:xfrm>
          <a:prstGeom prst="line">
            <a:avLst/>
          </a:prstGeom>
          <a:noFill/>
          <a:ln w="15875">
            <a:solidFill>
              <a:srgbClr val="C4B5FD"/>
            </a:solidFill>
            <a:prstDash val="solid"/>
          </a:ln>
        </p:spPr>
      </p:sp>
      <p:sp>
        <p:nvSpPr>
          <p:cNvPr id="82" name="Shape 75"/>
          <p:cNvSpPr/>
          <p:nvPr/>
        </p:nvSpPr>
        <p:spPr>
          <a:xfrm>
            <a:off x="7543800" y="4983480"/>
            <a:ext cx="310896" cy="310896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8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1524" y="5061204"/>
            <a:ext cx="155448" cy="155448"/>
          </a:xfrm>
          <a:prstGeom prst="rect">
            <a:avLst/>
          </a:prstGeom>
        </p:spPr>
      </p:pic>
      <p:sp>
        <p:nvSpPr>
          <p:cNvPr id="84" name="Text 76"/>
          <p:cNvSpPr txBox="1"/>
          <p:nvPr/>
        </p:nvSpPr>
        <p:spPr>
          <a:xfrm>
            <a:off x="7955280" y="497433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Events</a:t>
            </a:r>
            <a:endParaRPr lang="en-US" sz="1200" dirty="0"/>
          </a:p>
        </p:txBody>
      </p:sp>
      <p:sp>
        <p:nvSpPr>
          <p:cNvPr id="85" name="Text 77"/>
          <p:cNvSpPr txBox="1"/>
          <p:nvPr/>
        </p:nvSpPr>
        <p:spPr>
          <a:xfrm>
            <a:off x="9235440" y="497433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Upcoming, past, saved, passes</a:t>
            </a:r>
            <a:endParaRPr lang="en-US" sz="1000" dirty="0"/>
          </a:p>
        </p:txBody>
      </p:sp>
      <p:sp>
        <p:nvSpPr>
          <p:cNvPr id="86" name="Shape 78"/>
          <p:cNvSpPr/>
          <p:nvPr/>
        </p:nvSpPr>
        <p:spPr>
          <a:xfrm>
            <a:off x="7315200" y="5614416"/>
            <a:ext cx="201168" cy="91"/>
          </a:xfrm>
          <a:prstGeom prst="line">
            <a:avLst/>
          </a:prstGeom>
          <a:noFill/>
          <a:ln w="15875">
            <a:solidFill>
              <a:srgbClr val="C4B5FD"/>
            </a:solidFill>
            <a:prstDash val="solid"/>
          </a:ln>
        </p:spPr>
      </p:sp>
      <p:sp>
        <p:nvSpPr>
          <p:cNvPr id="87" name="Shape 79"/>
          <p:cNvSpPr/>
          <p:nvPr/>
        </p:nvSpPr>
        <p:spPr>
          <a:xfrm>
            <a:off x="7543800" y="5458968"/>
            <a:ext cx="310896" cy="310896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8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1524" y="5536692"/>
            <a:ext cx="155448" cy="155448"/>
          </a:xfrm>
          <a:prstGeom prst="rect">
            <a:avLst/>
          </a:prstGeom>
        </p:spPr>
      </p:pic>
      <p:sp>
        <p:nvSpPr>
          <p:cNvPr id="89" name="Text 80"/>
          <p:cNvSpPr txBox="1"/>
          <p:nvPr/>
        </p:nvSpPr>
        <p:spPr>
          <a:xfrm>
            <a:off x="7955280" y="544982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200" dirty="0"/>
          </a:p>
        </p:txBody>
      </p:sp>
      <p:sp>
        <p:nvSpPr>
          <p:cNvPr id="90" name="Text 81"/>
          <p:cNvSpPr txBox="1"/>
          <p:nvPr/>
        </p:nvSpPr>
        <p:spPr>
          <a:xfrm>
            <a:off x="9235440" y="544982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Interests, notification settings</a:t>
            </a:r>
            <a:endParaRPr lang="en-US" sz="1000" dirty="0"/>
          </a:p>
        </p:txBody>
      </p:sp>
      <p:sp>
        <p:nvSpPr>
          <p:cNvPr id="91" name="Text 82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future-state CX journey was translated into the platform’s interaction flow and information architecture.</a:t>
            </a:r>
            <a:endParaRPr lang="en-US" sz="1300" dirty="0"/>
          </a:p>
        </p:txBody>
      </p:sp>
      <p:sp>
        <p:nvSpPr>
          <p:cNvPr id="9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46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CONCLUSION &amp; FUTURE SCOPE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CX Problem to Digital 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21240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5" name="Shape 3"/>
          <p:cNvSpPr/>
          <p:nvPr/>
        </p:nvSpPr>
        <p:spPr>
          <a:xfrm>
            <a:off x="10094976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6" name="Shape 4"/>
          <p:cNvSpPr/>
          <p:nvPr/>
        </p:nvSpPr>
        <p:spPr>
          <a:xfrm>
            <a:off x="10268712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7" name="Shape 5"/>
          <p:cNvSpPr/>
          <p:nvPr/>
        </p:nvSpPr>
        <p:spPr>
          <a:xfrm>
            <a:off x="10442448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8" name="Shape 6"/>
          <p:cNvSpPr/>
          <p:nvPr/>
        </p:nvSpPr>
        <p:spPr>
          <a:xfrm>
            <a:off x="10616184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10" name="Shape 8"/>
          <p:cNvSpPr/>
          <p:nvPr/>
        </p:nvSpPr>
        <p:spPr>
          <a:xfrm>
            <a:off x="10963656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11" name="Shape 9"/>
          <p:cNvSpPr/>
          <p:nvPr/>
        </p:nvSpPr>
        <p:spPr>
          <a:xfrm>
            <a:off x="11137392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11128" y="438912"/>
            <a:ext cx="82296" cy="8229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84864" y="438912"/>
            <a:ext cx="118872" cy="11887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student research to transform a fragmented campus-event experience into a centralized digital journey.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1810512"/>
            <a:ext cx="2560320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066544"/>
            <a:ext cx="420624" cy="420624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2171700"/>
            <a:ext cx="210312" cy="21031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280160" y="2011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2286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student needs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145536" y="2276856"/>
            <a:ext cx="210312" cy="91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3392424" y="1810512"/>
            <a:ext cx="2560320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575304" y="2066544"/>
            <a:ext cx="420624" cy="420624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2171700"/>
            <a:ext cx="210312" cy="21031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123944" y="2011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insights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4123944" y="2286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pain points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989320" y="2276856"/>
            <a:ext cx="210312" cy="91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6236208" y="1810512"/>
            <a:ext cx="2560320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419088" y="2066544"/>
            <a:ext cx="420624" cy="420624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244" y="2171700"/>
            <a:ext cx="210312" cy="210312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6967728" y="2011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User-centered design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6967728" y="2286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solutions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8833104" y="2276856"/>
            <a:ext cx="210312" cy="91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33" name="Shape 28"/>
          <p:cNvSpPr/>
          <p:nvPr/>
        </p:nvSpPr>
        <p:spPr>
          <a:xfrm>
            <a:off x="9079992" y="1810512"/>
            <a:ext cx="2560320" cy="932688"/>
          </a:xfrm>
          <a:prstGeom prst="roundRect">
            <a:avLst>
              <a:gd name="adj" fmla="val 13725"/>
            </a:avLst>
          </a:prstGeom>
          <a:solidFill>
            <a:srgbClr val="1E1B4B"/>
          </a:solidFill>
          <a:ln w="9525">
            <a:solidFill>
              <a:srgbClr val="1E1B4B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9262872" y="2066544"/>
            <a:ext cx="420624" cy="420624"/>
          </a:xfrm>
          <a:prstGeom prst="ellipse">
            <a:avLst/>
          </a:prstGeom>
          <a:solidFill>
            <a:srgbClr val="3B3A78"/>
          </a:solidFill>
          <a:ln/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8028" y="2171700"/>
            <a:ext cx="210312" cy="210312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9811512" y="2011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prototype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9811512" y="2286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EventEase platform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548640" y="29626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548640" y="3273552"/>
            <a:ext cx="2615184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749808" y="3438144"/>
            <a:ext cx="420624" cy="420624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964" y="3543300"/>
            <a:ext cx="210312" cy="210312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2596896" y="3493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749808" y="3968496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authentication</a:t>
            </a:r>
            <a:endParaRPr lang="en-US" sz="1350" dirty="0"/>
          </a:p>
        </p:txBody>
      </p:sp>
      <p:sp>
        <p:nvSpPr>
          <p:cNvPr id="44" name="Text 37"/>
          <p:cNvSpPr txBox="1"/>
          <p:nvPr/>
        </p:nvSpPr>
        <p:spPr>
          <a:xfrm>
            <a:off x="749808" y="4279392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University-approved SSO for secure and seamless access.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3374136" y="3273552"/>
            <a:ext cx="2615184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3575304" y="3438144"/>
            <a:ext cx="420624" cy="420624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0460" y="3543300"/>
            <a:ext cx="210312" cy="210312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5422392" y="3493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9" name="Text 41"/>
          <p:cNvSpPr txBox="1"/>
          <p:nvPr/>
        </p:nvSpPr>
        <p:spPr>
          <a:xfrm>
            <a:off x="3575304" y="3968496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operations</a:t>
            </a:r>
            <a:endParaRPr lang="en-US" sz="1350" dirty="0"/>
          </a:p>
        </p:txBody>
      </p:sp>
      <p:sp>
        <p:nvSpPr>
          <p:cNvPr id="50" name="Text 42"/>
          <p:cNvSpPr txBox="1"/>
          <p:nvPr/>
        </p:nvSpPr>
        <p:spPr>
          <a:xfrm>
            <a:off x="3575304" y="4279392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Approvals, check-in, attendance and event management tools for organizers.</a:t>
            </a:r>
            <a:endParaRPr lang="en-US" sz="1100" dirty="0"/>
          </a:p>
        </p:txBody>
      </p:sp>
      <p:sp>
        <p:nvSpPr>
          <p:cNvPr id="51" name="Shape 43"/>
          <p:cNvSpPr/>
          <p:nvPr/>
        </p:nvSpPr>
        <p:spPr>
          <a:xfrm>
            <a:off x="6199632" y="3273552"/>
            <a:ext cx="2615184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52" name="Shape 44"/>
          <p:cNvSpPr/>
          <p:nvPr/>
        </p:nvSpPr>
        <p:spPr>
          <a:xfrm>
            <a:off x="6400800" y="3438144"/>
            <a:ext cx="420624" cy="420624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956" y="3543300"/>
            <a:ext cx="210312" cy="210312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8247888" y="3493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55" name="Text 46"/>
          <p:cNvSpPr txBox="1"/>
          <p:nvPr/>
        </p:nvSpPr>
        <p:spPr>
          <a:xfrm>
            <a:off x="6400800" y="3968496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ecosystem</a:t>
            </a:r>
            <a:endParaRPr lang="en-US" sz="1350" dirty="0"/>
          </a:p>
        </p:txBody>
      </p:sp>
      <p:sp>
        <p:nvSpPr>
          <p:cNvPr id="56" name="Text 47"/>
          <p:cNvSpPr txBox="1"/>
          <p:nvPr/>
        </p:nvSpPr>
        <p:spPr>
          <a:xfrm>
            <a:off x="6400800" y="4279392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clubs, teams, competitions and certificates in one platform.</a:t>
            </a:r>
            <a:endParaRPr lang="en-US" sz="1100" dirty="0"/>
          </a:p>
        </p:txBody>
      </p:sp>
      <p:sp>
        <p:nvSpPr>
          <p:cNvPr id="57" name="Shape 48"/>
          <p:cNvSpPr/>
          <p:nvPr/>
        </p:nvSpPr>
        <p:spPr>
          <a:xfrm>
            <a:off x="9025128" y="3273552"/>
            <a:ext cx="2615184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58" name="Shape 49"/>
          <p:cNvSpPr/>
          <p:nvPr/>
        </p:nvSpPr>
        <p:spPr>
          <a:xfrm>
            <a:off x="9226296" y="3438144"/>
            <a:ext cx="420624" cy="420624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5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1452" y="3543300"/>
            <a:ext cx="210312" cy="210312"/>
          </a:xfrm>
          <a:prstGeom prst="rect">
            <a:avLst/>
          </a:prstGeom>
        </p:spPr>
      </p:pic>
      <p:sp>
        <p:nvSpPr>
          <p:cNvPr id="60" name="Text 50"/>
          <p:cNvSpPr txBox="1"/>
          <p:nvPr/>
        </p:nvSpPr>
        <p:spPr>
          <a:xfrm>
            <a:off x="11073384" y="3493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61" name="Text 51"/>
          <p:cNvSpPr txBox="1"/>
          <p:nvPr/>
        </p:nvSpPr>
        <p:spPr>
          <a:xfrm>
            <a:off x="9226296" y="3968496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&amp; integration</a:t>
            </a:r>
            <a:endParaRPr lang="en-US" sz="1350" dirty="0"/>
          </a:p>
        </p:txBody>
      </p:sp>
      <p:sp>
        <p:nvSpPr>
          <p:cNvPr id="62" name="Text 52"/>
          <p:cNvSpPr txBox="1"/>
          <p:nvPr/>
        </p:nvSpPr>
        <p:spPr>
          <a:xfrm>
            <a:off x="9226296" y="4279392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personalization and integration with institutional systems.</a:t>
            </a:r>
            <a:endParaRPr lang="en-US" sz="1100" dirty="0"/>
          </a:p>
        </p:txBody>
      </p:sp>
      <p:sp>
        <p:nvSpPr>
          <p:cNvPr id="63" name="Shape 53"/>
          <p:cNvSpPr/>
          <p:nvPr/>
        </p:nvSpPr>
        <p:spPr>
          <a:xfrm>
            <a:off x="548640" y="5120640"/>
            <a:ext cx="11091672" cy="512064"/>
          </a:xfrm>
          <a:prstGeom prst="roundRect">
            <a:avLst>
              <a:gd name="adj" fmla="val 25000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64" name="Shape 54"/>
          <p:cNvSpPr/>
          <p:nvPr/>
        </p:nvSpPr>
        <p:spPr>
          <a:xfrm>
            <a:off x="685800" y="517550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384" y="5276088"/>
            <a:ext cx="201168" cy="201168"/>
          </a:xfrm>
          <a:prstGeom prst="rect">
            <a:avLst/>
          </a:prstGeom>
        </p:spPr>
      </p:pic>
      <p:sp>
        <p:nvSpPr>
          <p:cNvPr id="66" name="Text 55"/>
          <p:cNvSpPr txBox="1"/>
          <p:nvPr/>
        </p:nvSpPr>
        <p:spPr>
          <a:xfrm>
            <a:off x="1234440" y="5120640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status:  </a:t>
            </a: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academic prototype — not deployed at CUTM.</a:t>
            </a:r>
            <a:endParaRPr lang="en-US" sz="1400" dirty="0"/>
          </a:p>
        </p:txBody>
      </p:sp>
      <p:sp>
        <p:nvSpPr>
          <p:cNvPr id="67" name="Shape 56"/>
          <p:cNvSpPr/>
          <p:nvPr/>
        </p:nvSpPr>
        <p:spPr>
          <a:xfrm>
            <a:off x="548640" y="5724144"/>
            <a:ext cx="11091672" cy="603504"/>
          </a:xfrm>
          <a:prstGeom prst="roundRect">
            <a:avLst>
              <a:gd name="adj" fmla="val 21212"/>
            </a:avLst>
          </a:prstGeom>
          <a:solidFill>
            <a:srgbClr val="1E1B4B"/>
          </a:solidFill>
          <a:ln w="9525">
            <a:solidFill>
              <a:srgbClr val="1E1B4B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68" name="Text 57"/>
          <p:cNvSpPr txBox="1"/>
          <p:nvPr/>
        </p:nvSpPr>
        <p:spPr>
          <a:xfrm>
            <a:off x="822960" y="5724144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EventEase turns “Where did I find that event?” into </a:t>
            </a: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“Everything I need is here.”</a:t>
            </a:r>
            <a:endParaRPr lang="en-US" sz="1400" dirty="0"/>
          </a:p>
        </p:txBody>
      </p:sp>
      <p:sp>
        <p:nvSpPr>
          <p:cNvPr id="69" name="Shape 58"/>
          <p:cNvSpPr/>
          <p:nvPr/>
        </p:nvSpPr>
        <p:spPr>
          <a:xfrm>
            <a:off x="8503920" y="5833872"/>
            <a:ext cx="91" cy="384048"/>
          </a:xfrm>
          <a:prstGeom prst="line">
            <a:avLst/>
          </a:prstGeom>
          <a:noFill/>
          <a:ln w="15875">
            <a:solidFill>
              <a:srgbClr val="4C4A99"/>
            </a:solidFill>
            <a:prstDash val="solid"/>
          </a:ln>
        </p:spPr>
      </p:sp>
      <p:sp>
        <p:nvSpPr>
          <p:cNvPr id="70" name="Text 59"/>
          <p:cNvSpPr txBox="1"/>
          <p:nvPr/>
        </p:nvSpPr>
        <p:spPr>
          <a:xfrm>
            <a:off x="8732520" y="57790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EVENTEASE</a:t>
            </a:r>
            <a:endParaRPr lang="en-US" sz="1300" dirty="0"/>
          </a:p>
        </p:txBody>
      </p:sp>
      <p:sp>
        <p:nvSpPr>
          <p:cNvPr id="71" name="Text 60"/>
          <p:cNvSpPr txBox="1"/>
          <p:nvPr/>
        </p:nvSpPr>
        <p:spPr>
          <a:xfrm>
            <a:off x="8732520" y="603504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campus. Your opportunities. One place.</a:t>
            </a:r>
            <a:endParaRPr lang="en-US" sz="1050" dirty="0"/>
          </a:p>
        </p:txBody>
      </p:sp>
      <p:sp>
        <p:nvSpPr>
          <p:cNvPr id="7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748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LIVE PROTOTYPE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Experience the Designed Journey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21240" y="438912"/>
            <a:ext cx="82296" cy="82296"/>
          </a:xfrm>
          <a:prstGeom prst="ellipse">
            <a:avLst/>
          </a:prstGeom>
          <a:solidFill>
            <a:srgbClr val="8B7FE0"/>
          </a:solidFill>
          <a:ln/>
        </p:spPr>
      </p:sp>
      <p:sp>
        <p:nvSpPr>
          <p:cNvPr id="5" name="Shape 3"/>
          <p:cNvSpPr/>
          <p:nvPr/>
        </p:nvSpPr>
        <p:spPr>
          <a:xfrm>
            <a:off x="10094976" y="438912"/>
            <a:ext cx="82296" cy="82296"/>
          </a:xfrm>
          <a:prstGeom prst="ellipse">
            <a:avLst/>
          </a:prstGeom>
          <a:solidFill>
            <a:srgbClr val="8B7FE0"/>
          </a:solidFill>
          <a:ln/>
        </p:spPr>
      </p:sp>
      <p:sp>
        <p:nvSpPr>
          <p:cNvPr id="6" name="Shape 4"/>
          <p:cNvSpPr/>
          <p:nvPr/>
        </p:nvSpPr>
        <p:spPr>
          <a:xfrm>
            <a:off x="10268712" y="438912"/>
            <a:ext cx="82296" cy="82296"/>
          </a:xfrm>
          <a:prstGeom prst="ellipse">
            <a:avLst/>
          </a:prstGeom>
          <a:solidFill>
            <a:srgbClr val="8B7FE0"/>
          </a:solidFill>
          <a:ln/>
        </p:spPr>
      </p:sp>
      <p:sp>
        <p:nvSpPr>
          <p:cNvPr id="7" name="Shape 5"/>
          <p:cNvSpPr/>
          <p:nvPr/>
        </p:nvSpPr>
        <p:spPr>
          <a:xfrm>
            <a:off x="10442448" y="438912"/>
            <a:ext cx="82296" cy="82296"/>
          </a:xfrm>
          <a:prstGeom prst="ellipse">
            <a:avLst/>
          </a:prstGeom>
          <a:solidFill>
            <a:srgbClr val="8B7FE0"/>
          </a:solidFill>
          <a:ln/>
        </p:spPr>
      </p:sp>
      <p:sp>
        <p:nvSpPr>
          <p:cNvPr id="8" name="Shape 6"/>
          <p:cNvSpPr/>
          <p:nvPr/>
        </p:nvSpPr>
        <p:spPr>
          <a:xfrm>
            <a:off x="10616184" y="438912"/>
            <a:ext cx="82296" cy="82296"/>
          </a:xfrm>
          <a:prstGeom prst="ellipse">
            <a:avLst/>
          </a:prstGeom>
          <a:solidFill>
            <a:srgbClr val="8B7FE0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438912"/>
            <a:ext cx="82296" cy="82296"/>
          </a:xfrm>
          <a:prstGeom prst="ellipse">
            <a:avLst/>
          </a:prstGeom>
          <a:solidFill>
            <a:srgbClr val="8B7FE0"/>
          </a:solidFill>
          <a:ln/>
        </p:spPr>
      </p:sp>
      <p:sp>
        <p:nvSpPr>
          <p:cNvPr id="10" name="Shape 8"/>
          <p:cNvSpPr/>
          <p:nvPr/>
        </p:nvSpPr>
        <p:spPr>
          <a:xfrm>
            <a:off x="10963656" y="438912"/>
            <a:ext cx="82296" cy="82296"/>
          </a:xfrm>
          <a:prstGeom prst="ellipse">
            <a:avLst/>
          </a:prstGeom>
          <a:solidFill>
            <a:srgbClr val="8B7FE0"/>
          </a:solidFill>
          <a:ln/>
        </p:spPr>
      </p:sp>
      <p:sp>
        <p:nvSpPr>
          <p:cNvPr id="11" name="Shape 9"/>
          <p:cNvSpPr/>
          <p:nvPr/>
        </p:nvSpPr>
        <p:spPr>
          <a:xfrm>
            <a:off x="11137392" y="438912"/>
            <a:ext cx="82296" cy="82296"/>
          </a:xfrm>
          <a:prstGeom prst="ellipse">
            <a:avLst/>
          </a:prstGeom>
          <a:solidFill>
            <a:srgbClr val="8B7FE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11128" y="412018"/>
            <a:ext cx="118872" cy="1188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84864" y="438912"/>
            <a:ext cx="82296" cy="82296"/>
          </a:xfrm>
          <a:prstGeom prst="ellipse">
            <a:avLst/>
          </a:prstGeom>
          <a:solidFill>
            <a:srgbClr val="55529E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1554480"/>
            <a:ext cx="260604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9525">
            <a:solidFill>
              <a:srgbClr val="4C4A99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pic>
        <p:nvPicPr>
          <p:cNvPr id="15" name="Image 0" descr="EventEase Discover scree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" y="1600200"/>
            <a:ext cx="2514600" cy="153619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48640" y="3310128"/>
            <a:ext cx="329184" cy="32918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87552" y="33284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182112" y="2368296"/>
            <a:ext cx="173736" cy="91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3376879" y="1554480"/>
            <a:ext cx="260604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9525">
            <a:solidFill>
              <a:srgbClr val="4C4A99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pic>
        <p:nvPicPr>
          <p:cNvPr id="21" name="Image 1" descr="EventEase Event Details screen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22599" y="1600200"/>
            <a:ext cx="2514600" cy="1536192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3376879" y="3310128"/>
            <a:ext cx="329184" cy="32918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3376879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3815791" y="33284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Details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010351" y="2368296"/>
            <a:ext cx="173736" cy="91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6205118" y="1554480"/>
            <a:ext cx="260604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9525">
            <a:solidFill>
              <a:srgbClr val="4C4A99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pic>
        <p:nvPicPr>
          <p:cNvPr id="27" name="Image 2" descr="EventEase Register screen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50838" y="1600200"/>
            <a:ext cx="2514600" cy="1536192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6205118" y="3310128"/>
            <a:ext cx="329184" cy="32918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6205118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6644030" y="33284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8838590" y="2368296"/>
            <a:ext cx="173736" cy="91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9033358" y="1554480"/>
            <a:ext cx="260604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9525">
            <a:solidFill>
              <a:srgbClr val="4C4A99"/>
            </a:solidFill>
            <a:prstDash val="solid"/>
          </a:ln>
          <a:effectLst>
            <a:outerShdw blurRad="127000" dist="25400" dir="5400000" algn="bl" rotWithShape="0">
              <a:srgbClr val="1E1B4B">
                <a:alpha val="10000"/>
              </a:srgbClr>
            </a:outerShdw>
          </a:effectLst>
        </p:spPr>
      </p:sp>
      <p:pic>
        <p:nvPicPr>
          <p:cNvPr id="33" name="Image 3" descr="EventEase My Events screen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79078" y="1600200"/>
            <a:ext cx="2514600" cy="1536192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9033358" y="3310128"/>
            <a:ext cx="329184" cy="32918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9033358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9472270" y="33284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Events</a:t>
            </a:r>
            <a:endParaRPr lang="en-US" sz="14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950208"/>
            <a:ext cx="402336" cy="402336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507492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PROTOTYPE</a:t>
            </a:r>
            <a:endParaRPr lang="en-US" sz="2200" dirty="0"/>
          </a:p>
        </p:txBody>
      </p:sp>
      <p:sp>
        <p:nvSpPr>
          <p:cNvPr id="39" name="Text 32"/>
          <p:cNvSpPr txBox="1"/>
          <p:nvPr/>
        </p:nvSpPr>
        <p:spPr>
          <a:xfrm>
            <a:off x="548640" y="452628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“Let’s imagine Aarav has just heard about an event.”</a:t>
            </a:r>
            <a:endParaRPr lang="en-US" sz="1600" dirty="0"/>
          </a:p>
        </p:txBody>
      </p:sp>
      <p:sp>
        <p:nvSpPr>
          <p:cNvPr id="40" name="Shape 33"/>
          <p:cNvSpPr/>
          <p:nvPr/>
        </p:nvSpPr>
        <p:spPr>
          <a:xfrm>
            <a:off x="548640" y="5047488"/>
            <a:ext cx="1426464" cy="658368"/>
          </a:xfrm>
          <a:prstGeom prst="roundRect">
            <a:avLst>
              <a:gd name="adj" fmla="val 19444"/>
            </a:avLst>
          </a:prstGeom>
          <a:solidFill>
            <a:srgbClr val="2E2A6E"/>
          </a:solidFill>
          <a:ln w="9525">
            <a:solidFill>
              <a:srgbClr val="5B54B8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594360" y="5047488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search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1993392" y="5376672"/>
            <a:ext cx="150876" cy="91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43" name="Shape 36"/>
          <p:cNvSpPr/>
          <p:nvPr/>
        </p:nvSpPr>
        <p:spPr>
          <a:xfrm>
            <a:off x="2162556" y="5047488"/>
            <a:ext cx="1426464" cy="658368"/>
          </a:xfrm>
          <a:prstGeom prst="roundRect">
            <a:avLst>
              <a:gd name="adj" fmla="val 19444"/>
            </a:avLst>
          </a:prstGeom>
          <a:solidFill>
            <a:srgbClr val="2E2A6E"/>
          </a:solidFill>
          <a:ln w="9525">
            <a:solidFill>
              <a:srgbClr val="5B54B8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2208276" y="5047488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details</a:t>
            </a:r>
            <a:endParaRPr lang="en-US" sz="1200" dirty="0"/>
          </a:p>
        </p:txBody>
      </p:sp>
      <p:sp>
        <p:nvSpPr>
          <p:cNvPr id="45" name="Shape 38"/>
          <p:cNvSpPr/>
          <p:nvPr/>
        </p:nvSpPr>
        <p:spPr>
          <a:xfrm>
            <a:off x="3607308" y="5376672"/>
            <a:ext cx="150876" cy="91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46" name="Shape 39"/>
          <p:cNvSpPr/>
          <p:nvPr/>
        </p:nvSpPr>
        <p:spPr>
          <a:xfrm>
            <a:off x="3776472" y="5047488"/>
            <a:ext cx="1426464" cy="658368"/>
          </a:xfrm>
          <a:prstGeom prst="roundRect">
            <a:avLst>
              <a:gd name="adj" fmla="val 19444"/>
            </a:avLst>
          </a:prstGeom>
          <a:solidFill>
            <a:srgbClr val="2E2A6E"/>
          </a:solidFill>
          <a:ln w="9525">
            <a:solidFill>
              <a:srgbClr val="5B54B8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3822192" y="5047488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5221224" y="5376672"/>
            <a:ext cx="150876" cy="91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49" name="Shape 42"/>
          <p:cNvSpPr/>
          <p:nvPr/>
        </p:nvSpPr>
        <p:spPr>
          <a:xfrm>
            <a:off x="5390388" y="5047488"/>
            <a:ext cx="1426464" cy="658368"/>
          </a:xfrm>
          <a:prstGeom prst="roundRect">
            <a:avLst>
              <a:gd name="adj" fmla="val 19444"/>
            </a:avLst>
          </a:prstGeom>
          <a:solidFill>
            <a:srgbClr val="2E2A6E"/>
          </a:solidFill>
          <a:ln w="9525">
            <a:solidFill>
              <a:srgbClr val="5B54B8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5436108" y="5047488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&amp; QR</a:t>
            </a:r>
            <a:endParaRPr lang="en-US" sz="1200" dirty="0"/>
          </a:p>
        </p:txBody>
      </p:sp>
      <p:sp>
        <p:nvSpPr>
          <p:cNvPr id="51" name="Shape 44"/>
          <p:cNvSpPr/>
          <p:nvPr/>
        </p:nvSpPr>
        <p:spPr>
          <a:xfrm>
            <a:off x="6835140" y="5376672"/>
            <a:ext cx="150876" cy="91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52" name="Shape 45"/>
          <p:cNvSpPr/>
          <p:nvPr/>
        </p:nvSpPr>
        <p:spPr>
          <a:xfrm>
            <a:off x="7004304" y="5047488"/>
            <a:ext cx="1426464" cy="658368"/>
          </a:xfrm>
          <a:prstGeom prst="roundRect">
            <a:avLst>
              <a:gd name="adj" fmla="val 19444"/>
            </a:avLst>
          </a:prstGeom>
          <a:solidFill>
            <a:srgbClr val="2E2A6E"/>
          </a:solidFill>
          <a:ln w="9525">
            <a:solidFill>
              <a:srgbClr val="5B54B8"/>
            </a:solidFill>
            <a:prstDash val="solid"/>
          </a:ln>
        </p:spPr>
      </p:sp>
      <p:sp>
        <p:nvSpPr>
          <p:cNvPr id="53" name="Text 46"/>
          <p:cNvSpPr txBox="1"/>
          <p:nvPr/>
        </p:nvSpPr>
        <p:spPr>
          <a:xfrm>
            <a:off x="7050024" y="5047488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manage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Events</a:t>
            </a:r>
            <a:endParaRPr lang="en-US" sz="1200" dirty="0"/>
          </a:p>
        </p:txBody>
      </p:sp>
      <p:sp>
        <p:nvSpPr>
          <p:cNvPr id="54" name="Shape 47"/>
          <p:cNvSpPr/>
          <p:nvPr/>
        </p:nvSpPr>
        <p:spPr>
          <a:xfrm>
            <a:off x="8449056" y="5376672"/>
            <a:ext cx="150876" cy="91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55" name="Shape 48"/>
          <p:cNvSpPr/>
          <p:nvPr/>
        </p:nvSpPr>
        <p:spPr>
          <a:xfrm>
            <a:off x="8618220" y="5047488"/>
            <a:ext cx="1426464" cy="658368"/>
          </a:xfrm>
          <a:prstGeom prst="roundRect">
            <a:avLst>
              <a:gd name="adj" fmla="val 19444"/>
            </a:avLst>
          </a:prstGeom>
          <a:solidFill>
            <a:srgbClr val="2E2A6E"/>
          </a:solidFill>
          <a:ln w="9525">
            <a:solidFill>
              <a:srgbClr val="5B54B8"/>
            </a:solidFill>
            <a:prstDash val="solid"/>
          </a:ln>
        </p:spPr>
      </p:sp>
      <p:sp>
        <p:nvSpPr>
          <p:cNvPr id="56" name="Text 49"/>
          <p:cNvSpPr txBox="1"/>
          <p:nvPr/>
        </p:nvSpPr>
        <p:spPr>
          <a:xfrm>
            <a:off x="8663940" y="5047488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200" dirty="0"/>
          </a:p>
        </p:txBody>
      </p:sp>
      <p:sp>
        <p:nvSpPr>
          <p:cNvPr id="57" name="Shape 50"/>
          <p:cNvSpPr/>
          <p:nvPr/>
        </p:nvSpPr>
        <p:spPr>
          <a:xfrm>
            <a:off x="10062972" y="5376672"/>
            <a:ext cx="150876" cy="91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58" name="Shape 51"/>
          <p:cNvSpPr/>
          <p:nvPr/>
        </p:nvSpPr>
        <p:spPr>
          <a:xfrm>
            <a:off x="10232136" y="5047488"/>
            <a:ext cx="1426464" cy="658368"/>
          </a:xfrm>
          <a:prstGeom prst="roundRect">
            <a:avLst>
              <a:gd name="adj" fmla="val 19444"/>
            </a:avLst>
          </a:prstGeom>
          <a:solidFill>
            <a:srgbClr val="2E2A6E"/>
          </a:solidFill>
          <a:ln w="9525">
            <a:solidFill>
              <a:srgbClr val="5B54B8"/>
            </a:solidFill>
            <a:prstDash val="solid"/>
          </a:ln>
        </p:spPr>
      </p:sp>
      <p:sp>
        <p:nvSpPr>
          <p:cNvPr id="59" name="Text 52"/>
          <p:cNvSpPr txBox="1"/>
          <p:nvPr/>
        </p:nvSpPr>
        <p:spPr>
          <a:xfrm>
            <a:off x="10277856" y="5047488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00" dirty="0"/>
          </a:p>
        </p:txBody>
      </p:sp>
      <p:sp>
        <p:nvSpPr>
          <p:cNvPr id="6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7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77836"/>
      </p:ext>
    </p:extLst>
  </p:cSld>
  <p:clrMapOvr>
    <a:masterClrMapping/>
  </p:clrMapOvr>
</p:sld>
</file>

<file path=ppt/theme/theme1.xml><?xml version="1.0" encoding="utf-8"?>
<a:theme xmlns:a="http://schemas.openxmlformats.org/drawingml/2006/main" name="EventEase">
  <a:themeElements>
    <a:clrScheme name="EventEase">
      <a:dk1>
        <a:srgbClr val="1E1B4B"/>
      </a:dk1>
      <a:lt1>
        <a:srgbClr val="FFFFFF"/>
      </a:lt1>
      <a:dk2>
        <a:srgbClr val="312E81"/>
      </a:dk2>
      <a:lt2>
        <a:srgbClr val="F5F3FF"/>
      </a:lt2>
      <a:accent1>
        <a:srgbClr val="4F46E5"/>
      </a:accent1>
      <a:accent2>
        <a:srgbClr val="7C3AED"/>
      </a:accent2>
      <a:accent3>
        <a:srgbClr val="A78BFA"/>
      </a:accent3>
      <a:accent4>
        <a:srgbClr val="60A5FA"/>
      </a:accent4>
      <a:accent5>
        <a:srgbClr val="0D9488"/>
      </a:accent5>
      <a:accent6>
        <a:srgbClr val="94A3B8"/>
      </a:accent6>
      <a:hlink>
        <a:srgbClr val="4F46E5"/>
      </a:hlink>
      <a:folHlink>
        <a:srgbClr val="7C3AED"/>
      </a:folHlink>
    </a:clrScheme>
    <a:fontScheme name="EventEas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2425</Words>
  <Application>Microsoft Office PowerPoint</Application>
  <PresentationFormat>Widescreen</PresentationFormat>
  <Paragraphs>298</Paragraphs>
  <Slides>10</Slides>
  <Notes>9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EventEase</vt:lpstr>
      <vt:lpstr>PowerPoint Presentation</vt:lpstr>
      <vt:lpstr>PowerPoint Presentation</vt:lpstr>
      <vt:lpstr>We Started with the Students</vt:lpstr>
      <vt:lpstr>What Did the Students Tell Us?</vt:lpstr>
      <vt:lpstr>Who Are We Designing For?</vt:lpstr>
      <vt:lpstr>Mapping the Current Customer Journey</vt:lpstr>
      <vt:lpstr>From Pain Points to Design Opportunity</vt:lpstr>
      <vt:lpstr>Translating the CX Journey into the Product</vt:lpstr>
      <vt:lpstr>From CX Problem to Digital Experience</vt:lpstr>
      <vt:lpstr>Let’s Experience the Designed Journey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EventEase — Customer Experience Design Case Study</dc:title>
  <dc:subject>Customer Experience Design and Programming (CUCS1012)</dc:subject>
  <dc:creator>EventEase team</dc:creator>
  <cp:lastModifiedBy>payal priyadarshini</cp:lastModifiedBy>
  <cp:revision>11</cp:revision>
  <dcterms:created xsi:type="dcterms:W3CDTF">2026-10-04T17:48:38Z</dcterms:created>
  <dcterms:modified xsi:type="dcterms:W3CDTF">2026-10-04T18:46:19Z</dcterms:modified>
</cp:coreProperties>
</file>